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7" r:id="rId2"/>
    <p:sldId id="258" r:id="rId3"/>
    <p:sldId id="259" r:id="rId4"/>
    <p:sldId id="260" r:id="rId5"/>
    <p:sldId id="261" r:id="rId6"/>
    <p:sldId id="262" r:id="rId7"/>
    <p:sldId id="263" r:id="rId8"/>
    <p:sldId id="264" r:id="rId9"/>
    <p:sldId id="266" r:id="rId10"/>
    <p:sldId id="267" r:id="rId11"/>
    <p:sldId id="268" r:id="rId12"/>
    <p:sldId id="269" r:id="rId13"/>
    <p:sldId id="270" r:id="rId14"/>
    <p:sldId id="272"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6" d="100"/>
          <a:sy n="96" d="100"/>
        </p:scale>
        <p:origin x="1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8E37D5-14DC-4BB1-B883-C2963691E2F7}"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7F2D1CB-C145-4C69-8F17-BB6F1257AE7B}" type="slidenum">
              <a:rPr lang="en-IN" smtClean="0"/>
              <a:t>‹#›</a:t>
            </a:fld>
            <a:endParaRPr lang="en-IN"/>
          </a:p>
        </p:txBody>
      </p:sp>
    </p:spTree>
    <p:extLst>
      <p:ext uri="{BB962C8B-B14F-4D97-AF65-F5344CB8AC3E}">
        <p14:creationId xmlns:p14="http://schemas.microsoft.com/office/powerpoint/2010/main" val="3046667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8E37D5-14DC-4BB1-B883-C2963691E2F7}"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7F2D1CB-C145-4C69-8F17-BB6F1257AE7B}" type="slidenum">
              <a:rPr lang="en-IN" smtClean="0"/>
              <a:t>‹#›</a:t>
            </a:fld>
            <a:endParaRPr lang="en-IN"/>
          </a:p>
        </p:txBody>
      </p:sp>
    </p:spTree>
    <p:extLst>
      <p:ext uri="{BB962C8B-B14F-4D97-AF65-F5344CB8AC3E}">
        <p14:creationId xmlns:p14="http://schemas.microsoft.com/office/powerpoint/2010/main" val="3637126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8E37D5-14DC-4BB1-B883-C2963691E2F7}"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7F2D1CB-C145-4C69-8F17-BB6F1257AE7B}" type="slidenum">
              <a:rPr lang="en-IN" smtClean="0"/>
              <a:t>‹#›</a:t>
            </a:fld>
            <a:endParaRPr lang="en-IN"/>
          </a:p>
        </p:txBody>
      </p:sp>
    </p:spTree>
    <p:extLst>
      <p:ext uri="{BB962C8B-B14F-4D97-AF65-F5344CB8AC3E}">
        <p14:creationId xmlns:p14="http://schemas.microsoft.com/office/powerpoint/2010/main" val="2304798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8E37D5-14DC-4BB1-B883-C2963691E2F7}" type="datetimeFigureOut">
              <a:rPr lang="en-IN" smtClean="0"/>
              <a:t>19-08-2025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7F2D1CB-C145-4C69-8F17-BB6F1257AE7B}" type="slidenum">
              <a:rPr lang="en-IN" smtClean="0"/>
              <a:t>‹#›</a:t>
            </a:fld>
            <a:endParaRPr lang="en-IN"/>
          </a:p>
        </p:txBody>
      </p:sp>
    </p:spTree>
    <p:extLst>
      <p:ext uri="{BB962C8B-B14F-4D97-AF65-F5344CB8AC3E}">
        <p14:creationId xmlns:p14="http://schemas.microsoft.com/office/powerpoint/2010/main" val="2076276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8E37D5-14DC-4BB1-B883-C2963691E2F7}" type="datetimeFigureOut">
              <a:rPr lang="en-IN" smtClean="0"/>
              <a:t>19-08-2025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7F2D1CB-C145-4C69-8F17-BB6F1257AE7B}" type="slidenum">
              <a:rPr lang="en-IN" smtClean="0"/>
              <a:t>‹#›</a:t>
            </a:fld>
            <a:endParaRPr lang="en-IN"/>
          </a:p>
        </p:txBody>
      </p:sp>
    </p:spTree>
    <p:extLst>
      <p:ext uri="{BB962C8B-B14F-4D97-AF65-F5344CB8AC3E}">
        <p14:creationId xmlns:p14="http://schemas.microsoft.com/office/powerpoint/2010/main" val="3593003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8E37D5-14DC-4BB1-B883-C2963691E2F7}" type="datetimeFigureOut">
              <a:rPr lang="en-IN" smtClean="0"/>
              <a:t>19-08-2025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7F2D1CB-C145-4C69-8F17-BB6F1257AE7B}" type="slidenum">
              <a:rPr lang="en-IN" smtClean="0"/>
              <a:t>‹#›</a:t>
            </a:fld>
            <a:endParaRPr lang="en-IN"/>
          </a:p>
        </p:txBody>
      </p:sp>
    </p:spTree>
    <p:extLst>
      <p:ext uri="{BB962C8B-B14F-4D97-AF65-F5344CB8AC3E}">
        <p14:creationId xmlns:p14="http://schemas.microsoft.com/office/powerpoint/2010/main" val="4051953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8E37D5-14DC-4BB1-B883-C2963691E2F7}" type="datetimeFigureOut">
              <a:rPr lang="en-IN" smtClean="0"/>
              <a:t>19-08-2025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7F2D1CB-C145-4C69-8F17-BB6F1257AE7B}" type="slidenum">
              <a:rPr lang="en-IN" smtClean="0"/>
              <a:t>‹#›</a:t>
            </a:fld>
            <a:endParaRPr lang="en-IN"/>
          </a:p>
        </p:txBody>
      </p:sp>
    </p:spTree>
    <p:extLst>
      <p:ext uri="{BB962C8B-B14F-4D97-AF65-F5344CB8AC3E}">
        <p14:creationId xmlns:p14="http://schemas.microsoft.com/office/powerpoint/2010/main" val="2694885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8E37D5-14DC-4BB1-B883-C2963691E2F7}" type="datetimeFigureOut">
              <a:rPr lang="en-IN" smtClean="0"/>
              <a:t>19-08-2025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7F2D1CB-C145-4C69-8F17-BB6F1257AE7B}" type="slidenum">
              <a:rPr lang="en-IN" smtClean="0"/>
              <a:t>‹#›</a:t>
            </a:fld>
            <a:endParaRPr lang="en-IN"/>
          </a:p>
        </p:txBody>
      </p:sp>
    </p:spTree>
    <p:extLst>
      <p:ext uri="{BB962C8B-B14F-4D97-AF65-F5344CB8AC3E}">
        <p14:creationId xmlns:p14="http://schemas.microsoft.com/office/powerpoint/2010/main" val="1654300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8E37D5-14DC-4BB1-B883-C2963691E2F7}" type="datetimeFigureOut">
              <a:rPr lang="en-IN" smtClean="0"/>
              <a:t>19-08-2025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7F2D1CB-C145-4C69-8F17-BB6F1257AE7B}" type="slidenum">
              <a:rPr lang="en-IN" smtClean="0"/>
              <a:t>‹#›</a:t>
            </a:fld>
            <a:endParaRPr lang="en-IN"/>
          </a:p>
        </p:txBody>
      </p:sp>
    </p:spTree>
    <p:extLst>
      <p:ext uri="{BB962C8B-B14F-4D97-AF65-F5344CB8AC3E}">
        <p14:creationId xmlns:p14="http://schemas.microsoft.com/office/powerpoint/2010/main" val="1705529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8E37D5-14DC-4BB1-B883-C2963691E2F7}"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7F2D1CB-C145-4C69-8F17-BB6F1257AE7B}" type="slidenum">
              <a:rPr lang="en-IN" smtClean="0"/>
              <a:t>‹#›</a:t>
            </a:fld>
            <a:endParaRPr lang="en-IN"/>
          </a:p>
        </p:txBody>
      </p:sp>
    </p:spTree>
    <p:extLst>
      <p:ext uri="{BB962C8B-B14F-4D97-AF65-F5344CB8AC3E}">
        <p14:creationId xmlns:p14="http://schemas.microsoft.com/office/powerpoint/2010/main" val="767697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8E37D5-14DC-4BB1-B883-C2963691E2F7}"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7F2D1CB-C145-4C69-8F17-BB6F1257AE7B}"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326911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08E37D5-14DC-4BB1-B883-C2963691E2F7}" type="datetimeFigureOut">
              <a:rPr lang="en-IN" smtClean="0"/>
              <a:t>19-08-2025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7F2D1CB-C145-4C69-8F17-BB6F1257AE7B}" type="slidenum">
              <a:rPr lang="en-IN" smtClean="0"/>
              <a:t>‹#›</a:t>
            </a:fld>
            <a:endParaRPr lang="en-IN"/>
          </a:p>
        </p:txBody>
      </p:sp>
    </p:spTree>
    <p:extLst>
      <p:ext uri="{BB962C8B-B14F-4D97-AF65-F5344CB8AC3E}">
        <p14:creationId xmlns:p14="http://schemas.microsoft.com/office/powerpoint/2010/main" val="19383609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08E37D5-14DC-4BB1-B883-C2963691E2F7}" type="datetimeFigureOut">
              <a:rPr lang="en-IN" smtClean="0"/>
              <a:t>19-08-2025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7F2D1CB-C145-4C69-8F17-BB6F1257AE7B}"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785320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08E37D5-14DC-4BB1-B883-C2963691E2F7}" type="datetimeFigureOut">
              <a:rPr lang="en-IN" smtClean="0"/>
              <a:t>19-08-2025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7F2D1CB-C145-4C69-8F17-BB6F1257AE7B}" type="slidenum">
              <a:rPr lang="en-IN" smtClean="0"/>
              <a:t>‹#›</a:t>
            </a:fld>
            <a:endParaRPr lang="en-IN"/>
          </a:p>
        </p:txBody>
      </p:sp>
    </p:spTree>
    <p:extLst>
      <p:ext uri="{BB962C8B-B14F-4D97-AF65-F5344CB8AC3E}">
        <p14:creationId xmlns:p14="http://schemas.microsoft.com/office/powerpoint/2010/main" val="40452396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8E37D5-14DC-4BB1-B883-C2963691E2F7}"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7F2D1CB-C145-4C69-8F17-BB6F1257AE7B}" type="slidenum">
              <a:rPr lang="en-IN" smtClean="0"/>
              <a:t>‹#›</a:t>
            </a:fld>
            <a:endParaRPr lang="en-IN"/>
          </a:p>
        </p:txBody>
      </p:sp>
    </p:spTree>
    <p:extLst>
      <p:ext uri="{BB962C8B-B14F-4D97-AF65-F5344CB8AC3E}">
        <p14:creationId xmlns:p14="http://schemas.microsoft.com/office/powerpoint/2010/main" val="39499465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8E37D5-14DC-4BB1-B883-C2963691E2F7}"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7F2D1CB-C145-4C69-8F17-BB6F1257AE7B}" type="slidenum">
              <a:rPr lang="en-IN" smtClean="0"/>
              <a:t>‹#›</a:t>
            </a:fld>
            <a:endParaRPr lang="en-IN"/>
          </a:p>
        </p:txBody>
      </p:sp>
    </p:spTree>
    <p:extLst>
      <p:ext uri="{BB962C8B-B14F-4D97-AF65-F5344CB8AC3E}">
        <p14:creationId xmlns:p14="http://schemas.microsoft.com/office/powerpoint/2010/main" val="204023506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08E37D5-14DC-4BB1-B883-C2963691E2F7}" type="datetimeFigureOut">
              <a:rPr lang="en-IN" smtClean="0"/>
              <a:t>19-08-2025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7F2D1CB-C145-4C69-8F17-BB6F1257AE7B}" type="slidenum">
              <a:rPr lang="en-IN" smtClean="0"/>
              <a:t>‹#›</a:t>
            </a:fld>
            <a:endParaRPr lang="en-IN"/>
          </a:p>
        </p:txBody>
      </p:sp>
    </p:spTree>
    <p:extLst>
      <p:ext uri="{BB962C8B-B14F-4D97-AF65-F5344CB8AC3E}">
        <p14:creationId xmlns:p14="http://schemas.microsoft.com/office/powerpoint/2010/main" val="252189631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w3schools.com/python/index.php" TargetMode="External"/><Relationship Id="rId3" Type="http://schemas.openxmlformats.org/officeDocument/2006/relationships/hyperlink" Target="https://www.tutorialspoint.com/cprogramming/index.h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F731D-2AE4-3D84-3B56-910074970E89}"/>
              </a:ext>
            </a:extLst>
          </p:cNvPr>
          <p:cNvSpPr txBox="1">
            <a:spLocks/>
          </p:cNvSpPr>
          <p:nvPr/>
        </p:nvSpPr>
        <p:spPr>
          <a:xfrm>
            <a:off x="2489160" y="1362277"/>
            <a:ext cx="7213679" cy="1320063"/>
          </a:xfrm>
          <a:prstGeom prst="rect">
            <a:avLst/>
          </a:prstGeom>
        </p:spPr>
        <p:txBody>
          <a:bodyPr>
            <a:normAutofit fontScale="92500" lnSpcReduction="10000"/>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lnSpc>
                <a:spcPct val="150000"/>
              </a:lnSpc>
            </a:pPr>
            <a:r>
              <a:rPr lang="en-GB" sz="4000" b="1" u="sng" dirty="0">
                <a:latin typeface="Times New Roman" panose="02020603050405020304" pitchFamily="18" charset="0"/>
                <a:cs typeface="Times New Roman" panose="02020603050405020304" pitchFamily="18" charset="0"/>
              </a:rPr>
              <a:t>S R M S</a:t>
            </a:r>
            <a:br>
              <a:rPr lang="en-GB" b="1"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student Result Management System</a:t>
            </a:r>
            <a:endParaRPr lang="en-IN" sz="2400" dirty="0">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a16="http://schemas.microsoft.com/office/drawing/2014/main" id="{C722D385-9227-A870-FB8E-0E2D134F9334}"/>
              </a:ext>
            </a:extLst>
          </p:cNvPr>
          <p:cNvSpPr txBox="1">
            <a:spLocks/>
          </p:cNvSpPr>
          <p:nvPr/>
        </p:nvSpPr>
        <p:spPr>
          <a:xfrm>
            <a:off x="4515377" y="3996266"/>
            <a:ext cx="6987645" cy="1947333"/>
          </a:xfrm>
          <a:prstGeom prst="rect">
            <a:avLst/>
          </a:prstGeom>
        </p:spPr>
        <p:txBody>
          <a:bodyPr>
            <a:normAutofit fontScale="92500"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lvl="1" algn="ctr"/>
            <a:r>
              <a:t>Atkotiya Bhavy (92300527183)</a:t>
            </a:r>
            <a:endParaRPr lang="en-GB" sz="2200" dirty="0">
              <a:latin typeface="Times New Roman" panose="02020603050405020304" pitchFamily="18" charset="0"/>
              <a:cs typeface="Times New Roman" panose="02020603050405020304" pitchFamily="18" charset="0"/>
            </a:endParaRPr>
          </a:p>
          <a:p>
            <a:pPr marL="457200" lvl="1" indent="0" algn="ctr">
              <a:buNone/>
            </a:pPr>
            <a:endParaRPr lang="en-GB" sz="2200" dirty="0">
              <a:latin typeface="Times New Roman" panose="02020603050405020304" pitchFamily="18" charset="0"/>
              <a:cs typeface="Times New Roman" panose="02020603050405020304" pitchFamily="18" charset="0"/>
            </a:endParaRPr>
          </a:p>
          <a:p>
            <a:pPr lvl="6"/>
          </a:p>
          <a:p>
            <a:pPr lvl="6"/>
          </a:p>
          <a:p>
            <a:pPr lvl="6"/>
          </a:p>
          <a:p>
            <a:pPr algn="ctr"/>
            <a:endParaRPr lang="en-IN"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829747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E0275-75F9-2D8A-8C7B-2470C49C03F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D912824-4C70-3078-69F5-1AD4479426EA}"/>
              </a:ext>
            </a:extLst>
          </p:cNvPr>
          <p:cNvSpPr txBox="1">
            <a:spLocks/>
          </p:cNvSpPr>
          <p:nvPr/>
        </p:nvSpPr>
        <p:spPr>
          <a:xfrm>
            <a:off x="1907098" y="715297"/>
            <a:ext cx="1662011" cy="582561"/>
          </a:xfrm>
          <a:prstGeom prst="rect">
            <a:avLst/>
          </a:prstGeom>
        </p:spPr>
        <p:txBody>
          <a:bodyPr>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a:latin typeface="Times New Roman" panose="02020603050405020304" pitchFamily="18" charset="0"/>
                <a:cs typeface="Times New Roman" panose="02020603050405020304" pitchFamily="18" charset="0"/>
              </a:rPr>
              <a:t>Synopsis :</a:t>
            </a:r>
            <a:endParaRPr lang="en-IN" sz="2800" dirty="0"/>
          </a:p>
        </p:txBody>
      </p:sp>
      <p:sp>
        <p:nvSpPr>
          <p:cNvPr id="6" name="TextBox 5">
            <a:extLst>
              <a:ext uri="{FF2B5EF4-FFF2-40B4-BE49-F238E27FC236}">
                <a16:creationId xmlns:a16="http://schemas.microsoft.com/office/drawing/2014/main" id="{28469114-CB54-BDF2-4A09-2D025E5EEAF4}"/>
              </a:ext>
            </a:extLst>
          </p:cNvPr>
          <p:cNvSpPr txBox="1"/>
          <p:nvPr/>
        </p:nvSpPr>
        <p:spPr>
          <a:xfrm>
            <a:off x="1907098" y="2690336"/>
            <a:ext cx="9114863" cy="1477328"/>
          </a:xfrm>
          <a:prstGeom prst="rect">
            <a:avLst/>
          </a:prstGeom>
          <a:noFill/>
        </p:spPr>
        <p:txBody>
          <a:bodyPr wrap="square">
            <a:spAutoFit/>
          </a:bodyPr>
          <a:lstStyle/>
          <a:p>
            <a:pPr algn="just"/>
            <a:r>
              <a:rPr lang="en-US" dirty="0">
                <a:effectLst/>
                <a:latin typeface="Times New Roman" panose="02020603050405020304" pitchFamily="18" charset="0"/>
                <a:ea typeface="Bitstream Vera Sans"/>
                <a:cs typeface="Times New Roman" panose="02020603050405020304" pitchFamily="18" charset="0"/>
              </a:rPr>
              <a:t>The Result Management System (RMS) is a comprehensive platform designed to streamline the process of tracking, evaluating, and reporting performance outcomes across various sectors, including educational institutions, corporate environments, and governmental agencies. RMS facilitates the efficient management of results, providing a centralized system for input, analysis, and dissemination of performance data.</a:t>
            </a:r>
            <a:endParaRPr lang="en-IN" dirty="0">
              <a:effectLst/>
              <a:latin typeface="Nimbus Roman No9 L"/>
              <a:ea typeface="Bitstream Vera Sans"/>
              <a:cs typeface="Times New Roman" panose="02020603050405020304" pitchFamily="18" charset="0"/>
            </a:endParaRPr>
          </a:p>
        </p:txBody>
      </p:sp>
    </p:spTree>
    <p:extLst>
      <p:ext uri="{BB962C8B-B14F-4D97-AF65-F5344CB8AC3E}">
        <p14:creationId xmlns:p14="http://schemas.microsoft.com/office/powerpoint/2010/main" val="1837942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30098-C286-706A-2A47-C7F69E24FF2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071592A-52EE-FAF5-D106-BCB8E51CBD8D}"/>
              </a:ext>
            </a:extLst>
          </p:cNvPr>
          <p:cNvSpPr txBox="1"/>
          <p:nvPr/>
        </p:nvSpPr>
        <p:spPr>
          <a:xfrm>
            <a:off x="1907099" y="2274838"/>
            <a:ext cx="9114863" cy="2308324"/>
          </a:xfrm>
          <a:prstGeom prst="rect">
            <a:avLst/>
          </a:prstGeom>
          <a:noFill/>
        </p:spPr>
        <p:txBody>
          <a:bodyPr wrap="square">
            <a:spAutoFit/>
          </a:bodyPr>
          <a:lstStyle/>
          <a:p>
            <a:pPr algn="just"/>
            <a:r>
              <a:rPr lang="en-US" sz="1800" dirty="0">
                <a:effectLst/>
                <a:latin typeface="Nimbus Roman No9 L"/>
                <a:ea typeface="Bitstream Vera Sans"/>
                <a:cs typeface="Times New Roman" panose="02020603050405020304" pitchFamily="18" charset="0"/>
              </a:rPr>
              <a:t>Welcome to the Result Management System (RMS), a robust platform designed to streamline the management and analysis of performance outcomes. This system simplifies processes for recording and evaluating results, generating reports, and overseeing performance metrics. With user-friendly interfaces and efficient functionalities, the RMS aims to enhance organizational efficiency and improve user experience. From tracking academic grades to evaluating project outcomes, this system provides essential tools to optimize result management. Whether handling performance evaluations or generating detailed reports, RMS is tailored to meet the needs of modern institutions effectively.</a:t>
            </a:r>
            <a:endParaRPr lang="en-IN" sz="1800" dirty="0">
              <a:effectLst/>
              <a:latin typeface="Nimbus Roman No9 L"/>
              <a:ea typeface="Bitstream Vera Sans"/>
              <a:cs typeface="Times New Roman" panose="02020603050405020304" pitchFamily="18" charset="0"/>
            </a:endParaRPr>
          </a:p>
        </p:txBody>
      </p:sp>
      <p:sp>
        <p:nvSpPr>
          <p:cNvPr id="2" name="Title 1">
            <a:extLst>
              <a:ext uri="{FF2B5EF4-FFF2-40B4-BE49-F238E27FC236}">
                <a16:creationId xmlns:a16="http://schemas.microsoft.com/office/drawing/2014/main" id="{C2CE0682-7379-CC26-F770-F09EEAF5C830}"/>
              </a:ext>
            </a:extLst>
          </p:cNvPr>
          <p:cNvSpPr txBox="1">
            <a:spLocks/>
          </p:cNvSpPr>
          <p:nvPr/>
        </p:nvSpPr>
        <p:spPr>
          <a:xfrm>
            <a:off x="1907099" y="545068"/>
            <a:ext cx="2222450" cy="723293"/>
          </a:xfrm>
          <a:prstGeom prst="rect">
            <a:avLst/>
          </a:prstGeom>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dirty="0">
                <a:latin typeface="Times New Roman" panose="02020603050405020304" pitchFamily="18" charset="0"/>
                <a:cs typeface="Times New Roman" panose="02020603050405020304" pitchFamily="18" charset="0"/>
              </a:rPr>
              <a:t>Introduction</a:t>
            </a:r>
            <a:r>
              <a:rPr lang="en-IN" sz="4000" dirty="0">
                <a:latin typeface="Times New Roman" panose="02020603050405020304" pitchFamily="18" charset="0"/>
                <a:cs typeface="Times New Roman" panose="02020603050405020304" pitchFamily="18" charset="0"/>
              </a:rPr>
              <a:t> :</a:t>
            </a:r>
            <a:endParaRPr lang="en-IN" dirty="0"/>
          </a:p>
        </p:txBody>
      </p:sp>
    </p:spTree>
    <p:extLst>
      <p:ext uri="{BB962C8B-B14F-4D97-AF65-F5344CB8AC3E}">
        <p14:creationId xmlns:p14="http://schemas.microsoft.com/office/powerpoint/2010/main" val="3742431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4F292-7EF2-D9F9-ED85-93EC217C5CA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E3C1BF3-411C-3DA9-DEFA-39856BDD08B5}"/>
              </a:ext>
            </a:extLst>
          </p:cNvPr>
          <p:cNvSpPr txBox="1"/>
          <p:nvPr/>
        </p:nvSpPr>
        <p:spPr>
          <a:xfrm>
            <a:off x="1907100" y="1351221"/>
            <a:ext cx="9193519" cy="5324535"/>
          </a:xfrm>
          <a:prstGeom prst="rect">
            <a:avLst/>
          </a:prstGeom>
          <a:noFill/>
        </p:spPr>
        <p:txBody>
          <a:bodyPr wrap="square">
            <a:spAutoFit/>
          </a:bodyPr>
          <a:lstStyle/>
          <a:p>
            <a:pPr algn="just"/>
            <a:r>
              <a:rPr lang="en-US" sz="1700" dirty="0">
                <a:effectLst/>
                <a:latin typeface="Times New Roman" panose="02020603050405020304" pitchFamily="18" charset="0"/>
                <a:ea typeface="Bitstream Vera Sans"/>
                <a:cs typeface="Times New Roman" panose="02020603050405020304" pitchFamily="18" charset="0"/>
              </a:rPr>
              <a:t>Features of the Result Management System:</a:t>
            </a:r>
            <a:endParaRPr lang="en-IN" sz="1700" dirty="0">
              <a:effectLst/>
              <a:latin typeface="Nimbus Roman No9 L"/>
              <a:ea typeface="Bitstream Vera Sans"/>
              <a:cs typeface="Times New Roman" panose="02020603050405020304" pitchFamily="18" charset="0"/>
            </a:endParaRPr>
          </a:p>
          <a:p>
            <a:pPr algn="just"/>
            <a:r>
              <a:rPr lang="en-US" sz="1700" dirty="0">
                <a:effectLst/>
                <a:latin typeface="Times New Roman" panose="02020603050405020304" pitchFamily="18" charset="0"/>
                <a:ea typeface="Bitstream Vera Sans"/>
                <a:cs typeface="Times New Roman" panose="02020603050405020304" pitchFamily="18" charset="0"/>
              </a:rPr>
              <a:t> </a:t>
            </a:r>
            <a:endParaRPr lang="en-IN" sz="1700" dirty="0">
              <a:effectLst/>
              <a:latin typeface="Nimbus Roman No9 L"/>
              <a:ea typeface="Bitstream Vera Sans"/>
              <a:cs typeface="Times New Roman" panose="02020603050405020304" pitchFamily="18" charset="0"/>
            </a:endParaRPr>
          </a:p>
          <a:p>
            <a:pPr marL="342900" lvl="0" indent="-342900" algn="just">
              <a:buFont typeface="+mj-lt"/>
              <a:buAutoNum type="arabicPeriod"/>
              <a:tabLst>
                <a:tab pos="457200" algn="l"/>
              </a:tabLst>
            </a:pPr>
            <a:r>
              <a:rPr lang="en-US" sz="1700" b="1" dirty="0">
                <a:effectLst/>
                <a:latin typeface="Times New Roman" panose="02020603050405020304" pitchFamily="18" charset="0"/>
                <a:ea typeface="Bitstream Vera Sans"/>
                <a:cs typeface="Times New Roman" panose="02020603050405020304" pitchFamily="18" charset="0"/>
              </a:rPr>
              <a:t>Add Result:</a:t>
            </a:r>
            <a:r>
              <a:rPr lang="en-US" sz="1700" dirty="0">
                <a:effectLst/>
                <a:latin typeface="Times New Roman" panose="02020603050405020304" pitchFamily="18" charset="0"/>
                <a:ea typeface="Bitstream Vera Sans"/>
                <a:cs typeface="Times New Roman" panose="02020603050405020304" pitchFamily="18" charset="0"/>
              </a:rPr>
              <a:t> Administrators can easily input new performance results into the system, including details such as student or employee names, performance metrics, and evaluation dates.</a:t>
            </a:r>
            <a:endParaRPr lang="en-IN" sz="1700" dirty="0">
              <a:effectLst/>
              <a:latin typeface="Nimbus Roman No9 L"/>
              <a:ea typeface="Bitstream Vera Sans"/>
              <a:cs typeface="Times New Roman" panose="02020603050405020304" pitchFamily="18" charset="0"/>
            </a:endParaRPr>
          </a:p>
          <a:p>
            <a:pPr marL="342900" lvl="0" indent="-342900" algn="just">
              <a:buFont typeface="+mj-lt"/>
              <a:buAutoNum type="arabicPeriod"/>
              <a:tabLst>
                <a:tab pos="457200" algn="l"/>
              </a:tabLst>
            </a:pPr>
            <a:r>
              <a:rPr lang="en-US" sz="1700" b="1" dirty="0">
                <a:effectLst/>
                <a:latin typeface="Times New Roman" panose="02020603050405020304" pitchFamily="18" charset="0"/>
                <a:ea typeface="Bitstream Vera Sans"/>
                <a:cs typeface="Times New Roman" panose="02020603050405020304" pitchFamily="18" charset="0"/>
              </a:rPr>
              <a:t>Remove Result:</a:t>
            </a:r>
            <a:r>
              <a:rPr lang="en-US" sz="1700" dirty="0">
                <a:effectLst/>
                <a:latin typeface="Times New Roman" panose="02020603050405020304" pitchFamily="18" charset="0"/>
                <a:ea typeface="Bitstream Vera Sans"/>
                <a:cs typeface="Times New Roman" panose="02020603050405020304" pitchFamily="18" charset="0"/>
              </a:rPr>
              <a:t> This feature allows administrators to remove outdated or incorrect results from the database, ensuring data accuracy and relevance.</a:t>
            </a:r>
            <a:endParaRPr lang="en-IN" sz="1700" dirty="0">
              <a:effectLst/>
              <a:latin typeface="Nimbus Roman No9 L"/>
              <a:ea typeface="Bitstream Vera Sans"/>
              <a:cs typeface="Times New Roman" panose="02020603050405020304" pitchFamily="18" charset="0"/>
            </a:endParaRPr>
          </a:p>
          <a:p>
            <a:pPr marL="342900" lvl="0" indent="-342900" algn="just">
              <a:buFont typeface="+mj-lt"/>
              <a:buAutoNum type="arabicPeriod"/>
              <a:tabLst>
                <a:tab pos="457200" algn="l"/>
              </a:tabLst>
            </a:pPr>
            <a:r>
              <a:rPr lang="en-US" sz="1700" b="1" dirty="0">
                <a:effectLst/>
                <a:latin typeface="Times New Roman" panose="02020603050405020304" pitchFamily="18" charset="0"/>
                <a:ea typeface="Bitstream Vera Sans"/>
                <a:cs typeface="Times New Roman" panose="02020603050405020304" pitchFamily="18" charset="0"/>
              </a:rPr>
              <a:t>Update Result:</a:t>
            </a:r>
            <a:r>
              <a:rPr lang="en-US" sz="1700" dirty="0">
                <a:effectLst/>
                <a:latin typeface="Times New Roman" panose="02020603050405020304" pitchFamily="18" charset="0"/>
                <a:ea typeface="Bitstream Vera Sans"/>
                <a:cs typeface="Times New Roman" panose="02020603050405020304" pitchFamily="18" charset="0"/>
              </a:rPr>
              <a:t> Administrators can update existing performance records, including correcting errors, revising scores, or modifying evaluation criteria.</a:t>
            </a:r>
            <a:endParaRPr lang="en-IN" sz="1700" dirty="0">
              <a:effectLst/>
              <a:latin typeface="Nimbus Roman No9 L"/>
              <a:ea typeface="Bitstream Vera Sans"/>
              <a:cs typeface="Times New Roman" panose="02020603050405020304" pitchFamily="18" charset="0"/>
            </a:endParaRPr>
          </a:p>
          <a:p>
            <a:pPr marL="342900" lvl="0" indent="-342900" algn="just">
              <a:buFont typeface="+mj-lt"/>
              <a:buAutoNum type="arabicPeriod"/>
              <a:tabLst>
                <a:tab pos="457200" algn="l"/>
              </a:tabLst>
            </a:pPr>
            <a:r>
              <a:rPr lang="en-US" sz="1700" b="1" dirty="0">
                <a:effectLst/>
                <a:latin typeface="Times New Roman" panose="02020603050405020304" pitchFamily="18" charset="0"/>
                <a:ea typeface="Bitstream Vera Sans"/>
                <a:cs typeface="Times New Roman" panose="02020603050405020304" pitchFamily="18" charset="0"/>
              </a:rPr>
              <a:t>Manage Users:</a:t>
            </a:r>
            <a:r>
              <a:rPr lang="en-US" sz="1700" dirty="0">
                <a:effectLst/>
                <a:latin typeface="Times New Roman" panose="02020603050405020304" pitchFamily="18" charset="0"/>
                <a:ea typeface="Bitstream Vera Sans"/>
                <a:cs typeface="Times New Roman" panose="02020603050405020304" pitchFamily="18" charset="0"/>
              </a:rPr>
              <a:t> This feature enables administrators to manage user information, including registration details, performance history, and any related feedback or comments.</a:t>
            </a:r>
            <a:endParaRPr lang="en-IN" sz="1700" dirty="0">
              <a:effectLst/>
              <a:latin typeface="Nimbus Roman No9 L"/>
              <a:ea typeface="Bitstream Vera Sans"/>
              <a:cs typeface="Times New Roman" panose="02020603050405020304" pitchFamily="18" charset="0"/>
            </a:endParaRPr>
          </a:p>
          <a:p>
            <a:pPr marL="342900" lvl="0" indent="-342900" algn="just">
              <a:buFont typeface="+mj-lt"/>
              <a:buAutoNum type="arabicPeriod"/>
              <a:tabLst>
                <a:tab pos="457200" algn="l"/>
              </a:tabLst>
            </a:pPr>
            <a:r>
              <a:rPr lang="en-US" sz="1700" b="1" dirty="0">
                <a:effectLst/>
                <a:latin typeface="Times New Roman" panose="02020603050405020304" pitchFamily="18" charset="0"/>
                <a:ea typeface="Bitstream Vera Sans"/>
                <a:cs typeface="Times New Roman" panose="02020603050405020304" pitchFamily="18" charset="0"/>
              </a:rPr>
              <a:t>Manage Results:</a:t>
            </a:r>
            <a:r>
              <a:rPr lang="en-US" sz="1700" dirty="0">
                <a:effectLst/>
                <a:latin typeface="Times New Roman" panose="02020603050405020304" pitchFamily="18" charset="0"/>
                <a:ea typeface="Bitstream Vera Sans"/>
                <a:cs typeface="Times New Roman" panose="02020603050405020304" pitchFamily="18" charset="0"/>
              </a:rPr>
              <a:t> Administrators can efficiently manage results across various categories, including categorizing performance data, assigning evaluation criteria, and tracking overall performance status.</a:t>
            </a:r>
            <a:endParaRPr lang="en-IN" sz="1700" dirty="0">
              <a:effectLst/>
              <a:latin typeface="Nimbus Roman No9 L"/>
              <a:ea typeface="Bitstream Vera Sans"/>
              <a:cs typeface="Times New Roman" panose="02020603050405020304" pitchFamily="18" charset="0"/>
            </a:endParaRPr>
          </a:p>
          <a:p>
            <a:pPr marL="342900" lvl="0" indent="-342900" algn="just">
              <a:buFont typeface="+mj-lt"/>
              <a:buAutoNum type="arabicPeriod"/>
              <a:tabLst>
                <a:tab pos="457200" algn="l"/>
              </a:tabLst>
            </a:pPr>
            <a:r>
              <a:rPr lang="en-US" sz="1700" b="1" dirty="0">
                <a:effectLst/>
                <a:latin typeface="Times New Roman" panose="02020603050405020304" pitchFamily="18" charset="0"/>
                <a:ea typeface="Bitstream Vera Sans"/>
                <a:cs typeface="Times New Roman" panose="02020603050405020304" pitchFamily="18" charset="0"/>
              </a:rPr>
              <a:t>View Records:</a:t>
            </a:r>
            <a:r>
              <a:rPr lang="en-US" sz="1700" dirty="0">
                <a:effectLst/>
                <a:latin typeface="Times New Roman" panose="02020603050405020304" pitchFamily="18" charset="0"/>
                <a:ea typeface="Bitstream Vera Sans"/>
                <a:cs typeface="Times New Roman" panose="02020603050405020304" pitchFamily="18" charset="0"/>
              </a:rPr>
              <a:t> Administrators have access to comprehensive records of all performance data, including detailed information on results, metrics, and historical trends.</a:t>
            </a:r>
            <a:endParaRPr lang="en-IN" sz="1700" dirty="0">
              <a:effectLst/>
              <a:latin typeface="Nimbus Roman No9 L"/>
              <a:ea typeface="Bitstream Vera Sans"/>
              <a:cs typeface="Times New Roman" panose="02020603050405020304" pitchFamily="18" charset="0"/>
            </a:endParaRPr>
          </a:p>
          <a:p>
            <a:pPr marL="342900" lvl="0" indent="-342900" algn="just">
              <a:buFont typeface="+mj-lt"/>
              <a:buAutoNum type="arabicPeriod"/>
              <a:tabLst>
                <a:tab pos="457200" algn="l"/>
              </a:tabLst>
            </a:pPr>
            <a:r>
              <a:rPr lang="en-US" sz="1700" b="1" dirty="0">
                <a:effectLst/>
                <a:latin typeface="Times New Roman" panose="02020603050405020304" pitchFamily="18" charset="0"/>
                <a:ea typeface="Bitstream Vera Sans"/>
                <a:cs typeface="Times New Roman" panose="02020603050405020304" pitchFamily="18" charset="0"/>
              </a:rPr>
              <a:t>Issued Result Records:</a:t>
            </a:r>
            <a:r>
              <a:rPr lang="en-US" sz="1700" dirty="0">
                <a:effectLst/>
                <a:latin typeface="Times New Roman" panose="02020603050405020304" pitchFamily="18" charset="0"/>
                <a:ea typeface="Bitstream Vera Sans"/>
                <a:cs typeface="Times New Roman" panose="02020603050405020304" pitchFamily="18" charset="0"/>
              </a:rPr>
              <a:t> Administrators can view records of results issued to users, including details such as issue dates, evaluation status, and any associated feedback or remarks.</a:t>
            </a:r>
            <a:endParaRPr lang="en-IN" sz="1700" dirty="0">
              <a:effectLst/>
              <a:latin typeface="Nimbus Roman No9 L"/>
              <a:ea typeface="Bitstream Vera Sans"/>
              <a:cs typeface="Times New Roman" panose="02020603050405020304" pitchFamily="18" charset="0"/>
            </a:endParaRPr>
          </a:p>
          <a:p>
            <a:pPr marL="342900" lvl="0" indent="-342900" algn="just">
              <a:buFont typeface="+mj-lt"/>
              <a:buAutoNum type="arabicPeriod"/>
              <a:tabLst>
                <a:tab pos="457200" algn="l"/>
              </a:tabLst>
            </a:pPr>
            <a:r>
              <a:rPr lang="en-US" sz="1700" b="1" dirty="0">
                <a:effectLst/>
                <a:latin typeface="Times New Roman" panose="02020603050405020304" pitchFamily="18" charset="0"/>
                <a:ea typeface="Bitstream Vera Sans"/>
                <a:cs typeface="Times New Roman" panose="02020603050405020304" pitchFamily="18" charset="0"/>
              </a:rPr>
              <a:t>Search Functionality:</a:t>
            </a:r>
            <a:r>
              <a:rPr lang="en-US" sz="1700" dirty="0">
                <a:effectLst/>
                <a:latin typeface="Times New Roman" panose="02020603050405020304" pitchFamily="18" charset="0"/>
                <a:ea typeface="Bitstream Vera Sans"/>
                <a:cs typeface="Times New Roman" panose="02020603050405020304" pitchFamily="18" charset="0"/>
              </a:rPr>
              <a:t> Users can search for specific performance results using various criteria such as name, performance metrics, or evaluation dates, making it easy to find detailed information within the system.</a:t>
            </a:r>
            <a:endParaRPr lang="en-IN" sz="1700" dirty="0">
              <a:effectLst/>
              <a:latin typeface="Nimbus Roman No9 L"/>
              <a:ea typeface="Bitstream Vera Sans"/>
              <a:cs typeface="Times New Roman" panose="02020603050405020304" pitchFamily="18" charset="0"/>
            </a:endParaRPr>
          </a:p>
        </p:txBody>
      </p:sp>
      <p:sp>
        <p:nvSpPr>
          <p:cNvPr id="3" name="Title 1">
            <a:extLst>
              <a:ext uri="{FF2B5EF4-FFF2-40B4-BE49-F238E27FC236}">
                <a16:creationId xmlns:a16="http://schemas.microsoft.com/office/drawing/2014/main" id="{02167E3B-0F24-EE49-AA1E-41FED4DD0243}"/>
              </a:ext>
            </a:extLst>
          </p:cNvPr>
          <p:cNvSpPr txBox="1">
            <a:spLocks/>
          </p:cNvSpPr>
          <p:nvPr/>
        </p:nvSpPr>
        <p:spPr>
          <a:xfrm>
            <a:off x="1907099" y="705465"/>
            <a:ext cx="1593186" cy="592393"/>
          </a:xfrm>
          <a:prstGeom prst="rect">
            <a:avLst/>
          </a:prstGeom>
        </p:spPr>
        <p:txBody>
          <a:bodyPr>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a:latin typeface="Times New Roman" panose="02020603050405020304" pitchFamily="18" charset="0"/>
                <a:cs typeface="Times New Roman" panose="02020603050405020304" pitchFamily="18" charset="0"/>
              </a:rPr>
              <a:t>Features :</a:t>
            </a:r>
            <a:endParaRPr lang="en-IN" sz="2800" dirty="0"/>
          </a:p>
        </p:txBody>
      </p:sp>
    </p:spTree>
    <p:extLst>
      <p:ext uri="{BB962C8B-B14F-4D97-AF65-F5344CB8AC3E}">
        <p14:creationId xmlns:p14="http://schemas.microsoft.com/office/powerpoint/2010/main" val="1005282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0F8EF-11C6-06DB-9EE9-9B62797A48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7D04A-1A28-66A3-1AFE-B7FFF1C309A9}"/>
              </a:ext>
            </a:extLst>
          </p:cNvPr>
          <p:cNvSpPr txBox="1">
            <a:spLocks/>
          </p:cNvSpPr>
          <p:nvPr/>
        </p:nvSpPr>
        <p:spPr>
          <a:xfrm>
            <a:off x="1907100" y="721709"/>
            <a:ext cx="3441652" cy="605645"/>
          </a:xfrm>
          <a:prstGeom prst="rect">
            <a:avLst/>
          </a:prstGeom>
        </p:spPr>
        <p:txBody>
          <a:bodyPr>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dirty="0">
                <a:latin typeface="Times New Roman" panose="02020603050405020304" pitchFamily="18" charset="0"/>
                <a:cs typeface="Times New Roman" panose="02020603050405020304" pitchFamily="18" charset="0"/>
              </a:rPr>
              <a:t>Review Of Literature :</a:t>
            </a:r>
            <a:endParaRPr lang="en-IN" sz="2800" dirty="0"/>
          </a:p>
        </p:txBody>
      </p:sp>
      <p:sp>
        <p:nvSpPr>
          <p:cNvPr id="5" name="TextBox 4">
            <a:extLst>
              <a:ext uri="{FF2B5EF4-FFF2-40B4-BE49-F238E27FC236}">
                <a16:creationId xmlns:a16="http://schemas.microsoft.com/office/drawing/2014/main" id="{AA9C8BEB-9EE6-99AA-913B-034DBAA518A2}"/>
              </a:ext>
            </a:extLst>
          </p:cNvPr>
          <p:cNvSpPr txBox="1"/>
          <p:nvPr/>
        </p:nvSpPr>
        <p:spPr>
          <a:xfrm>
            <a:off x="1907100" y="1582993"/>
            <a:ext cx="9114861" cy="5078313"/>
          </a:xfrm>
          <a:prstGeom prst="rect">
            <a:avLst/>
          </a:prstGeom>
          <a:noFill/>
        </p:spPr>
        <p:txBody>
          <a:bodyPr wrap="square">
            <a:spAutoFit/>
          </a:bodyPr>
          <a:lstStyle/>
          <a:p>
            <a:pPr algn="just"/>
            <a:r>
              <a:rPr lang="en-US" sz="1800" dirty="0">
                <a:effectLst/>
                <a:latin typeface="Times New Roman" panose="02020603050405020304" pitchFamily="18" charset="0"/>
                <a:ea typeface="Bitstream Vera Sans"/>
                <a:cs typeface="Times New Roman" panose="02020603050405020304" pitchFamily="18" charset="0"/>
              </a:rPr>
              <a:t>The literature on Result Management Systems (RMS) highlights the transformative role of technology in streamlining academic operations and enhancing the overall user experience for both administrators and students. As educational institutions increasingly adopt digital tools, several studies focus on the critical features and functionalities that an effective RMS should offer to meet the evolving needs of users.</a:t>
            </a:r>
            <a:endParaRPr lang="en-IN" sz="1800" dirty="0">
              <a:effectLst/>
              <a:latin typeface="Nimbus Roman No9 L"/>
              <a:ea typeface="Bitstream Vera Sans"/>
              <a:cs typeface="Times New Roman" panose="02020603050405020304" pitchFamily="18" charset="0"/>
            </a:endParaRPr>
          </a:p>
          <a:p>
            <a:pPr algn="just"/>
            <a:r>
              <a:rPr lang="en-US" sz="1800" dirty="0">
                <a:effectLst/>
                <a:latin typeface="Times New Roman" panose="02020603050405020304" pitchFamily="18" charset="0"/>
                <a:ea typeface="Bitstream Vera Sans"/>
                <a:cs typeface="Times New Roman" panose="02020603050405020304" pitchFamily="18" charset="0"/>
              </a:rPr>
              <a:t> </a:t>
            </a:r>
            <a:endParaRPr lang="en-IN" sz="1800" dirty="0">
              <a:effectLst/>
              <a:latin typeface="Nimbus Roman No9 L"/>
              <a:ea typeface="Bitstream Vera Sans"/>
              <a:cs typeface="Times New Roman" panose="02020603050405020304" pitchFamily="18" charset="0"/>
            </a:endParaRPr>
          </a:p>
          <a:p>
            <a:pPr algn="just"/>
            <a:r>
              <a:rPr lang="en-US" sz="1800" dirty="0">
                <a:effectLst/>
                <a:latin typeface="Times New Roman" panose="02020603050405020304" pitchFamily="18" charset="0"/>
                <a:ea typeface="Bitstream Vera Sans"/>
                <a:cs typeface="Times New Roman" panose="02020603050405020304" pitchFamily="18" charset="0"/>
              </a:rPr>
              <a:t>Research by Patel et al. (2020) emphasizes the importance of user-friendly interfaces and robust functionalities in Result Management Systems. The study underlines essential features such as result entry, grading, and report generation, along with the ability to handle diverse grading systems. Additionally, they highlight the importance of student information management for easy tracking of academic progress across different semesters and courses.</a:t>
            </a:r>
            <a:endParaRPr lang="en-IN" sz="1800" dirty="0">
              <a:effectLst/>
              <a:latin typeface="Nimbus Roman No9 L"/>
              <a:ea typeface="Bitstream Vera Sans"/>
              <a:cs typeface="Times New Roman" panose="02020603050405020304" pitchFamily="18" charset="0"/>
            </a:endParaRPr>
          </a:p>
          <a:p>
            <a:pPr algn="just"/>
            <a:r>
              <a:rPr lang="en-US" sz="1800" dirty="0">
                <a:effectLst/>
                <a:latin typeface="Times New Roman" panose="02020603050405020304" pitchFamily="18" charset="0"/>
                <a:ea typeface="Bitstream Vera Sans"/>
                <a:cs typeface="Times New Roman" panose="02020603050405020304" pitchFamily="18" charset="0"/>
              </a:rPr>
              <a:t> </a:t>
            </a:r>
            <a:endParaRPr lang="en-IN" sz="1800" dirty="0">
              <a:effectLst/>
              <a:latin typeface="Nimbus Roman No9 L"/>
              <a:ea typeface="Bitstream Vera Sans"/>
              <a:cs typeface="Times New Roman" panose="02020603050405020304" pitchFamily="18" charset="0"/>
            </a:endParaRPr>
          </a:p>
          <a:p>
            <a:pPr algn="just"/>
            <a:r>
              <a:rPr lang="en-US" sz="1800" dirty="0">
                <a:effectLst/>
                <a:latin typeface="Times New Roman" panose="02020603050405020304" pitchFamily="18" charset="0"/>
                <a:ea typeface="Bitstream Vera Sans"/>
                <a:cs typeface="Times New Roman" panose="02020603050405020304" pitchFamily="18" charset="0"/>
              </a:rPr>
              <a:t>Further, Singh and Gupta (2021) explore key components of RMS, including data security, user access control, and integration with other institutional systems like Student Information Systems (SIS). They stress that a secure, role-based access control (RBAC) mechanism ensures that sensitive data is only accessible to authorized personnel, while allowing for efficient data management across various stakeholders.</a:t>
            </a:r>
            <a:endParaRPr lang="en-IN" sz="1800" dirty="0">
              <a:effectLst/>
              <a:latin typeface="Nimbus Roman No9 L"/>
              <a:ea typeface="Bitstream Vera Sans"/>
              <a:cs typeface="Times New Roman" panose="02020603050405020304" pitchFamily="18" charset="0"/>
            </a:endParaRPr>
          </a:p>
          <a:p>
            <a:pPr algn="just"/>
            <a:r>
              <a:rPr lang="en-US" sz="1800" dirty="0">
                <a:effectLst/>
                <a:latin typeface="Times New Roman" panose="02020603050405020304" pitchFamily="18" charset="0"/>
                <a:ea typeface="Bitstream Vera Sans"/>
                <a:cs typeface="Times New Roman" panose="02020603050405020304" pitchFamily="18" charset="0"/>
              </a:rPr>
              <a:t> </a:t>
            </a:r>
            <a:endParaRPr lang="en-IN" sz="1800" dirty="0">
              <a:effectLst/>
              <a:latin typeface="Nimbus Roman No9 L"/>
              <a:ea typeface="Bitstream Vera Sans"/>
              <a:cs typeface="Times New Roman" panose="02020603050405020304" pitchFamily="18" charset="0"/>
            </a:endParaRPr>
          </a:p>
        </p:txBody>
      </p:sp>
    </p:spTree>
    <p:extLst>
      <p:ext uri="{BB962C8B-B14F-4D97-AF65-F5344CB8AC3E}">
        <p14:creationId xmlns:p14="http://schemas.microsoft.com/office/powerpoint/2010/main" val="3422116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620F2-D2FC-2CED-C2A5-32EACBFCC1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C35D16-6D8E-141C-DE15-2964C3F6ABDE}"/>
              </a:ext>
            </a:extLst>
          </p:cNvPr>
          <p:cNvSpPr txBox="1">
            <a:spLocks/>
          </p:cNvSpPr>
          <p:nvPr/>
        </p:nvSpPr>
        <p:spPr>
          <a:xfrm>
            <a:off x="1907100" y="761039"/>
            <a:ext cx="3441652" cy="605645"/>
          </a:xfrm>
          <a:prstGeom prst="rect">
            <a:avLst/>
          </a:prstGeom>
        </p:spPr>
        <p:txBody>
          <a:bodyPr>
            <a:normAutofit fontScale="925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dirty="0">
                <a:latin typeface="Times New Roman" panose="02020603050405020304" pitchFamily="18" charset="0"/>
                <a:cs typeface="Times New Roman" panose="02020603050405020304" pitchFamily="18" charset="0"/>
              </a:rPr>
              <a:t>Technical Description :</a:t>
            </a:r>
            <a:endParaRPr lang="en-IN" sz="2800" dirty="0"/>
          </a:p>
        </p:txBody>
      </p:sp>
      <p:sp>
        <p:nvSpPr>
          <p:cNvPr id="3" name="Title 1">
            <a:extLst>
              <a:ext uri="{FF2B5EF4-FFF2-40B4-BE49-F238E27FC236}">
                <a16:creationId xmlns:a16="http://schemas.microsoft.com/office/drawing/2014/main" id="{A89DA7F7-8E55-C8EB-D16C-140C7FE6068D}"/>
              </a:ext>
            </a:extLst>
          </p:cNvPr>
          <p:cNvSpPr txBox="1">
            <a:spLocks/>
          </p:cNvSpPr>
          <p:nvPr/>
        </p:nvSpPr>
        <p:spPr>
          <a:xfrm>
            <a:off x="1907100" y="1466378"/>
            <a:ext cx="7807173" cy="1664804"/>
          </a:xfrm>
          <a:prstGeom prst="rect">
            <a:avLst/>
          </a:prstGeom>
        </p:spPr>
        <p:txBody>
          <a:bodyPr>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en-US" sz="1800" dirty="0">
                <a:effectLst/>
                <a:latin typeface="Times New Roman" panose="02020603050405020304" pitchFamily="18" charset="0"/>
                <a:ea typeface="Bitstream Vera Sans"/>
                <a:cs typeface="Times New Roman" panose="02020603050405020304" pitchFamily="18" charset="0"/>
              </a:rPr>
              <a:t>The platform will be developed using a combination of the following technologies:</a:t>
            </a:r>
            <a:endParaRPr lang="en-IN" sz="1800" dirty="0">
              <a:effectLst/>
              <a:latin typeface="Nimbus Roman No9 L"/>
              <a:ea typeface="Bitstream Vera Sans"/>
              <a:cs typeface="Times New Roman" panose="02020603050405020304" pitchFamily="18" charset="0"/>
            </a:endParaRPr>
          </a:p>
          <a:p>
            <a:pPr algn="just"/>
            <a:r>
              <a:rPr lang="en-US" sz="1800" dirty="0">
                <a:effectLst/>
                <a:latin typeface="Times New Roman" panose="02020603050405020304" pitchFamily="18" charset="0"/>
                <a:ea typeface="Bitstream Vera Sans"/>
                <a:cs typeface="Times New Roman" panose="02020603050405020304" pitchFamily="18" charset="0"/>
              </a:rPr>
              <a:t> </a:t>
            </a:r>
            <a:endParaRPr lang="en-IN" sz="1800" dirty="0">
              <a:effectLst/>
              <a:latin typeface="Nimbus Roman No9 L"/>
              <a:ea typeface="Bitstream Vera Sans"/>
              <a:cs typeface="Times New Roman" panose="02020603050405020304" pitchFamily="18" charset="0"/>
            </a:endParaRPr>
          </a:p>
          <a:p>
            <a:pPr algn="just"/>
            <a:r>
              <a:rPr lang="en-US" sz="1800" dirty="0">
                <a:effectLst/>
                <a:latin typeface="Times New Roman" panose="02020603050405020304" pitchFamily="18" charset="0"/>
                <a:ea typeface="Bitstream Vera Sans"/>
                <a:cs typeface="Times New Roman" panose="02020603050405020304" pitchFamily="18" charset="0"/>
              </a:rPr>
              <a:t>1. Language :  Python</a:t>
            </a:r>
            <a:endParaRPr lang="en-IN" sz="1800" dirty="0">
              <a:effectLst/>
              <a:latin typeface="Nimbus Roman No9 L"/>
              <a:ea typeface="Bitstream Vera Sans"/>
              <a:cs typeface="Times New Roman" panose="02020603050405020304" pitchFamily="18" charset="0"/>
            </a:endParaRPr>
          </a:p>
          <a:p>
            <a:pPr algn="just"/>
            <a:r>
              <a:rPr lang="en-US" sz="1800" dirty="0">
                <a:effectLst/>
                <a:latin typeface="Times New Roman" panose="02020603050405020304" pitchFamily="18" charset="0"/>
                <a:ea typeface="Bitstream Vera Sans"/>
                <a:cs typeface="Times New Roman" panose="02020603050405020304" pitchFamily="18" charset="0"/>
              </a:rPr>
              <a:t> </a:t>
            </a:r>
            <a:endParaRPr lang="en-IN" sz="1800" dirty="0">
              <a:effectLst/>
              <a:latin typeface="Nimbus Roman No9 L"/>
              <a:ea typeface="Bitstream Vera Sans"/>
              <a:cs typeface="Times New Roman" panose="02020603050405020304" pitchFamily="18" charset="0"/>
            </a:endParaRPr>
          </a:p>
          <a:p>
            <a:pPr algn="just"/>
            <a:r>
              <a:rPr lang="en-US" sz="1800" dirty="0">
                <a:effectLst/>
                <a:latin typeface="Times New Roman" panose="02020603050405020304" pitchFamily="18" charset="0"/>
                <a:ea typeface="Bitstream Vera Sans"/>
                <a:cs typeface="Times New Roman" panose="02020603050405020304" pitchFamily="18" charset="0"/>
              </a:rPr>
              <a:t>2. Search Functionality : </a:t>
            </a:r>
            <a:endParaRPr lang="en-IN" sz="1800" dirty="0">
              <a:effectLst/>
              <a:latin typeface="Nimbus Roman No9 L"/>
              <a:ea typeface="Bitstream Vera Sans"/>
              <a:cs typeface="Times New Roman" panose="02020603050405020304" pitchFamily="18" charset="0"/>
            </a:endParaRPr>
          </a:p>
        </p:txBody>
      </p:sp>
      <p:sp>
        <p:nvSpPr>
          <p:cNvPr id="6" name="TextBox 5">
            <a:extLst>
              <a:ext uri="{FF2B5EF4-FFF2-40B4-BE49-F238E27FC236}">
                <a16:creationId xmlns:a16="http://schemas.microsoft.com/office/drawing/2014/main" id="{3B52ED58-6D00-4CD2-5C0D-C9980375061E}"/>
              </a:ext>
            </a:extLst>
          </p:cNvPr>
          <p:cNvSpPr txBox="1"/>
          <p:nvPr/>
        </p:nvSpPr>
        <p:spPr>
          <a:xfrm>
            <a:off x="1907100" y="3131182"/>
            <a:ext cx="9271820" cy="3446072"/>
          </a:xfrm>
          <a:prstGeom prst="rect">
            <a:avLst/>
          </a:prstGeom>
          <a:noFill/>
        </p:spPr>
        <p:txBody>
          <a:bodyPr wrap="square">
            <a:spAutoFit/>
          </a:bodyPr>
          <a:lstStyle/>
          <a:p>
            <a:pPr algn="ctr"/>
            <a:r>
              <a:rPr lang="en-US" sz="1800" b="1" dirty="0">
                <a:effectLst/>
                <a:latin typeface="Times New Roman" panose="02020603050405020304" pitchFamily="18" charset="0"/>
                <a:ea typeface="Bitstream Vera Sans"/>
                <a:cs typeface="Times New Roman" panose="02020603050405020304" pitchFamily="18" charset="0"/>
              </a:rPr>
              <a:t>4.1 HARDWARE REQUIREMENTS :</a:t>
            </a:r>
            <a:endParaRPr lang="en-IN" sz="1800" dirty="0">
              <a:effectLst/>
              <a:latin typeface="Nimbus Roman No9 L"/>
              <a:ea typeface="Bitstream Vera Sans"/>
              <a:cs typeface="Times New Roman" panose="02020603050405020304" pitchFamily="18" charset="0"/>
            </a:endParaRPr>
          </a:p>
          <a:p>
            <a:pPr algn="ctr"/>
            <a:r>
              <a:rPr lang="en-US" sz="1800" b="1" dirty="0">
                <a:effectLst/>
                <a:latin typeface="Times New Roman" panose="02020603050405020304" pitchFamily="18" charset="0"/>
                <a:ea typeface="Bitstream Vera Sans"/>
                <a:cs typeface="Times New Roman" panose="02020603050405020304" pitchFamily="18" charset="0"/>
              </a:rPr>
              <a:t> </a:t>
            </a:r>
            <a:endParaRPr lang="en-IN" sz="1800" dirty="0">
              <a:effectLst/>
              <a:latin typeface="Nimbus Roman No9 L"/>
              <a:ea typeface="Bitstream Vera Sans"/>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US" sz="1800" dirty="0">
                <a:effectLst/>
                <a:latin typeface="Times New Roman" panose="02020603050405020304" pitchFamily="18" charset="0"/>
                <a:ea typeface="Bitstream Vera Sans"/>
                <a:cs typeface="Times New Roman" panose="02020603050405020304" pitchFamily="18" charset="0"/>
              </a:rPr>
              <a:t>RAM : Minimum 4 GB </a:t>
            </a:r>
            <a:endParaRPr lang="en-IN" sz="1800" dirty="0">
              <a:effectLst/>
              <a:latin typeface="Nimbus Roman No9 L"/>
              <a:ea typeface="Bitstream Vera Sans"/>
              <a:cs typeface="Times New Roman" panose="02020603050405020304" pitchFamily="18" charset="0"/>
            </a:endParaRPr>
          </a:p>
          <a:p>
            <a:pPr marL="342900" lvl="0" indent="-342900" algn="just">
              <a:lnSpc>
                <a:spcPct val="107000"/>
              </a:lnSpc>
              <a:buFont typeface="Symbol" panose="05050102010706020507" pitchFamily="18" charset="2"/>
              <a:buChar char=""/>
            </a:pPr>
            <a:r>
              <a:rPr lang="en-US" sz="1800" dirty="0">
                <a:effectLst/>
                <a:latin typeface="Times New Roman" panose="02020603050405020304" pitchFamily="18" charset="0"/>
                <a:ea typeface="Bitstream Vera Sans"/>
                <a:cs typeface="Times New Roman" panose="02020603050405020304" pitchFamily="18" charset="0"/>
              </a:rPr>
              <a:t>PROCESSOR : 11</a:t>
            </a:r>
            <a:r>
              <a:rPr lang="en-US" sz="1800" baseline="30000" dirty="0">
                <a:effectLst/>
                <a:latin typeface="Times New Roman" panose="02020603050405020304" pitchFamily="18" charset="0"/>
                <a:ea typeface="Bitstream Vera Sans"/>
                <a:cs typeface="Times New Roman" panose="02020603050405020304" pitchFamily="18" charset="0"/>
              </a:rPr>
              <a:t>th</a:t>
            </a:r>
            <a:r>
              <a:rPr lang="en-US" sz="1800" dirty="0">
                <a:effectLst/>
                <a:latin typeface="Times New Roman" panose="02020603050405020304" pitchFamily="18" charset="0"/>
                <a:ea typeface="Bitstream Vera Sans"/>
                <a:cs typeface="Times New Roman" panose="02020603050405020304" pitchFamily="18" charset="0"/>
              </a:rPr>
              <a:t> Gen Intel(R) Core(TM) i5-10300H CPU @ 2.50GHz   2.50 GHz</a:t>
            </a:r>
            <a:endParaRPr lang="en-IN" sz="1800" dirty="0">
              <a:effectLst/>
              <a:latin typeface="Nimbus Roman No9 L"/>
              <a:ea typeface="Bitstream Vera Sans"/>
              <a:cs typeface="Times New Roman" panose="02020603050405020304" pitchFamily="18" charset="0"/>
            </a:endParaRPr>
          </a:p>
          <a:p>
            <a:pPr marL="342900" lvl="0" indent="-342900" algn="just">
              <a:lnSpc>
                <a:spcPct val="107000"/>
              </a:lnSpc>
              <a:buFont typeface="Symbol" panose="05050102010706020507" pitchFamily="18" charset="2"/>
              <a:buChar char=""/>
            </a:pPr>
            <a:r>
              <a:rPr lang="en-US" sz="1800" dirty="0">
                <a:effectLst/>
                <a:latin typeface="Times New Roman" panose="02020603050405020304" pitchFamily="18" charset="0"/>
                <a:ea typeface="Bitstream Vera Sans"/>
                <a:cs typeface="Times New Roman" panose="02020603050405020304" pitchFamily="18" charset="0"/>
              </a:rPr>
              <a:t>VERSION : Windows 8,10  &amp; 11.</a:t>
            </a:r>
            <a:endParaRPr lang="en-IN" sz="1800" dirty="0">
              <a:effectLst/>
              <a:latin typeface="Nimbus Roman No9 L"/>
              <a:ea typeface="Bitstream Vera Sans"/>
              <a:cs typeface="Times New Roman" panose="02020603050405020304" pitchFamily="18" charset="0"/>
            </a:endParaRPr>
          </a:p>
          <a:p>
            <a:pPr marL="342900" lvl="0" indent="-342900" algn="just">
              <a:lnSpc>
                <a:spcPct val="107000"/>
              </a:lnSpc>
              <a:buFont typeface="Symbol" panose="05050102010706020507" pitchFamily="18" charset="2"/>
              <a:buChar char=""/>
            </a:pPr>
            <a:r>
              <a:rPr lang="en-US" sz="1800" dirty="0">
                <a:effectLst/>
                <a:latin typeface="Times New Roman" panose="02020603050405020304" pitchFamily="18" charset="0"/>
                <a:ea typeface="Bitstream Vera Sans"/>
                <a:cs typeface="Times New Roman" panose="02020603050405020304" pitchFamily="18" charset="0"/>
              </a:rPr>
              <a:t>SYSTEM TYPE : 64 Bit operating system.</a:t>
            </a:r>
            <a:endParaRPr lang="en-IN" sz="1800" dirty="0">
              <a:effectLst/>
              <a:latin typeface="Nimbus Roman No9 L"/>
              <a:ea typeface="Bitstream Vera Sans"/>
              <a:cs typeface="Times New Roman" panose="02020603050405020304" pitchFamily="18" charset="0"/>
            </a:endParaRPr>
          </a:p>
          <a:p>
            <a:pPr algn="ctr"/>
            <a:r>
              <a:rPr lang="en-US" sz="1800" dirty="0">
                <a:effectLst/>
                <a:latin typeface="Times New Roman" panose="02020603050405020304" pitchFamily="18" charset="0"/>
                <a:ea typeface="Bitstream Vera Sans"/>
                <a:cs typeface="Times New Roman" panose="02020603050405020304" pitchFamily="18" charset="0"/>
              </a:rPr>
              <a:t> </a:t>
            </a:r>
            <a:endParaRPr lang="en-IN" sz="1800" dirty="0">
              <a:effectLst/>
              <a:latin typeface="Nimbus Roman No9 L"/>
              <a:ea typeface="Bitstream Vera Sans"/>
              <a:cs typeface="Times New Roman" panose="02020603050405020304" pitchFamily="18" charset="0"/>
            </a:endParaRPr>
          </a:p>
          <a:p>
            <a:pPr algn="ctr"/>
            <a:r>
              <a:rPr lang="en-US" sz="1800" b="1" dirty="0">
                <a:effectLst/>
                <a:latin typeface="Times New Roman" panose="02020603050405020304" pitchFamily="18" charset="0"/>
                <a:ea typeface="Bitstream Vera Sans"/>
                <a:cs typeface="Times New Roman" panose="02020603050405020304" pitchFamily="18" charset="0"/>
              </a:rPr>
              <a:t>4.2 SOFTWARE REQUIREMENTS :</a:t>
            </a:r>
            <a:endParaRPr lang="en-IN" sz="1800" dirty="0">
              <a:effectLst/>
              <a:latin typeface="Nimbus Roman No9 L"/>
              <a:ea typeface="Bitstream Vera Sans"/>
              <a:cs typeface="Times New Roman" panose="02020603050405020304" pitchFamily="18" charset="0"/>
            </a:endParaRPr>
          </a:p>
          <a:p>
            <a:pPr algn="ctr"/>
            <a:r>
              <a:rPr lang="en-US" sz="1800" b="1" dirty="0">
                <a:effectLst/>
                <a:latin typeface="Times New Roman" panose="02020603050405020304" pitchFamily="18" charset="0"/>
                <a:ea typeface="Bitstream Vera Sans"/>
                <a:cs typeface="Times New Roman" panose="02020603050405020304" pitchFamily="18" charset="0"/>
              </a:rPr>
              <a:t> </a:t>
            </a:r>
            <a:endParaRPr lang="en-IN" sz="1800" dirty="0">
              <a:effectLst/>
              <a:latin typeface="Nimbus Roman No9 L"/>
              <a:ea typeface="Bitstream Vera Sans"/>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US" sz="1800" dirty="0">
                <a:effectLst/>
                <a:latin typeface="Times New Roman" panose="02020603050405020304" pitchFamily="18" charset="0"/>
                <a:ea typeface="Bitstream Vera Sans"/>
                <a:cs typeface="Times New Roman" panose="02020603050405020304" pitchFamily="18" charset="0"/>
              </a:rPr>
              <a:t>USED SOFTWARE :  Python IDLE</a:t>
            </a:r>
            <a:endParaRPr lang="en-IN" sz="1800" dirty="0">
              <a:effectLst/>
              <a:latin typeface="Nimbus Roman No9 L"/>
              <a:ea typeface="Bitstream Vera Sans"/>
              <a:cs typeface="Times New Roman" panose="02020603050405020304" pitchFamily="18" charset="0"/>
            </a:endParaRPr>
          </a:p>
          <a:p>
            <a:pPr marL="342900" lvl="0" indent="-342900" algn="just">
              <a:lnSpc>
                <a:spcPct val="107000"/>
              </a:lnSpc>
              <a:buFont typeface="Symbol" panose="05050102010706020507" pitchFamily="18" charset="2"/>
              <a:buChar char=""/>
            </a:pPr>
            <a:r>
              <a:rPr lang="en-US" sz="1800" dirty="0">
                <a:effectLst/>
                <a:latin typeface="Times New Roman" panose="02020603050405020304" pitchFamily="18" charset="0"/>
                <a:ea typeface="Bitstream Vera Sans"/>
                <a:cs typeface="Times New Roman" panose="02020603050405020304" pitchFamily="18" charset="0"/>
              </a:rPr>
              <a:t>USED DATA BASE : Sqlite3</a:t>
            </a:r>
            <a:endParaRPr lang="en-IN" sz="1800" dirty="0">
              <a:effectLst/>
              <a:latin typeface="Nimbus Roman No9 L"/>
              <a:ea typeface="Bitstream Vera Sans"/>
              <a:cs typeface="Times New Roman" panose="02020603050405020304" pitchFamily="18" charset="0"/>
            </a:endParaRPr>
          </a:p>
        </p:txBody>
      </p:sp>
    </p:spTree>
    <p:extLst>
      <p:ext uri="{BB962C8B-B14F-4D97-AF65-F5344CB8AC3E}">
        <p14:creationId xmlns:p14="http://schemas.microsoft.com/office/powerpoint/2010/main" val="4128275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B96F1-108E-0AAE-4DC2-E601959F95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5C7951-86BB-2896-7A14-FE3B1922DC1E}"/>
              </a:ext>
            </a:extLst>
          </p:cNvPr>
          <p:cNvSpPr txBox="1">
            <a:spLocks/>
          </p:cNvSpPr>
          <p:nvPr/>
        </p:nvSpPr>
        <p:spPr>
          <a:xfrm>
            <a:off x="1907100" y="761039"/>
            <a:ext cx="3441652" cy="605645"/>
          </a:xfrm>
          <a:prstGeom prst="rect">
            <a:avLst/>
          </a:prstGeom>
        </p:spPr>
        <p:txBody>
          <a:bodyPr>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800" dirty="0">
                <a:latin typeface="Times New Roman" panose="02020603050405020304" pitchFamily="18" charset="0"/>
                <a:cs typeface="Times New Roman" panose="02020603050405020304" pitchFamily="18" charset="0"/>
              </a:rPr>
              <a:t>Module </a:t>
            </a:r>
            <a:r>
              <a:rPr lang="en-GB" sz="2800" dirty="0" err="1">
                <a:latin typeface="Times New Roman" panose="02020603050405020304" pitchFamily="18" charset="0"/>
                <a:cs typeface="Times New Roman" panose="02020603050405020304" pitchFamily="18" charset="0"/>
              </a:rPr>
              <a:t>Discription</a:t>
            </a:r>
            <a:r>
              <a:rPr lang="en-GB" sz="2800" dirty="0">
                <a:latin typeface="Times New Roman" panose="02020603050405020304" pitchFamily="18" charset="0"/>
                <a:cs typeface="Times New Roman" panose="02020603050405020304" pitchFamily="18" charset="0"/>
              </a:rPr>
              <a:t> :</a:t>
            </a:r>
            <a:endParaRPr lang="en-IN" sz="2800" dirty="0"/>
          </a:p>
        </p:txBody>
      </p:sp>
      <p:sp>
        <p:nvSpPr>
          <p:cNvPr id="5" name="TextBox 4">
            <a:extLst>
              <a:ext uri="{FF2B5EF4-FFF2-40B4-BE49-F238E27FC236}">
                <a16:creationId xmlns:a16="http://schemas.microsoft.com/office/drawing/2014/main" id="{1734D506-E46E-A619-C029-087C1C886692}"/>
              </a:ext>
            </a:extLst>
          </p:cNvPr>
          <p:cNvSpPr txBox="1"/>
          <p:nvPr/>
        </p:nvSpPr>
        <p:spPr>
          <a:xfrm>
            <a:off x="1907100" y="1782395"/>
            <a:ext cx="6096000" cy="3170099"/>
          </a:xfrm>
          <a:prstGeom prst="rect">
            <a:avLst/>
          </a:prstGeom>
          <a:noFill/>
        </p:spPr>
        <p:txBody>
          <a:bodyPr wrap="square">
            <a:spAutoFit/>
          </a:bodyPr>
          <a:lstStyle/>
          <a:p>
            <a:pPr algn="l"/>
            <a:r>
              <a:rPr lang="en-GB" sz="2000" b="1" kern="1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There Are 8 Modules In My Project.</a:t>
            </a:r>
            <a:endParaRPr lang="en-IN" sz="1600" dirty="0">
              <a:effectLst/>
              <a:latin typeface="Nimbus Roman No9 L"/>
              <a:ea typeface="Bitstream Vera Sans"/>
              <a:cs typeface="Times New Roman" panose="02020603050405020304" pitchFamily="18" charset="0"/>
            </a:endParaRPr>
          </a:p>
          <a:p>
            <a:pPr algn="l"/>
            <a:r>
              <a:rPr lang="en-GB" sz="2000" b="1" kern="1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b="1" kern="1200" dirty="0">
              <a:solidFill>
                <a:srgbClr val="404040"/>
              </a:solidFill>
              <a:latin typeface="Nimbus Roman No9 L"/>
              <a:ea typeface="Times New Roman" panose="02020603050405020304" pitchFamily="18" charset="0"/>
              <a:cs typeface="Times New Roman" panose="02020603050405020304" pitchFamily="18" charset="0"/>
            </a:endParaRPr>
          </a:p>
          <a:p>
            <a:pPr algn="l"/>
            <a:endParaRPr lang="en-IN" sz="1600" dirty="0">
              <a:effectLst/>
              <a:latin typeface="Nimbus Roman No9 L"/>
              <a:ea typeface="Bitstream Vera Sans"/>
              <a:cs typeface="Times New Roman" panose="02020603050405020304" pitchFamily="18" charset="0"/>
            </a:endParaRPr>
          </a:p>
          <a:p>
            <a:pPr algn="l"/>
            <a:r>
              <a:rPr lang="en-GB" dirty="0">
                <a:solidFill>
                  <a:srgbClr val="404040"/>
                </a:solidFill>
                <a:latin typeface="Times New Roman" panose="02020603050405020304" pitchFamily="18" charset="0"/>
                <a:ea typeface="Bitstream Vera Sans"/>
                <a:cs typeface="Times New Roman" panose="02020603050405020304" pitchFamily="18" charset="0"/>
              </a:rPr>
              <a:t>1. Login</a:t>
            </a:r>
            <a:endParaRPr lang="en-IN" sz="1600" dirty="0">
              <a:effectLst/>
              <a:latin typeface="Nimbus Roman No9 L"/>
              <a:ea typeface="Bitstream Vera Sans"/>
              <a:cs typeface="Times New Roman" panose="02020603050405020304" pitchFamily="18" charset="0"/>
            </a:endParaRPr>
          </a:p>
          <a:p>
            <a:pPr algn="l"/>
            <a:r>
              <a:rPr lang="en-GB"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2</a:t>
            </a:r>
            <a:r>
              <a:rPr lang="en-GB" sz="1800" kern="1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Dashboard </a:t>
            </a:r>
            <a:endParaRPr lang="en-IN" sz="1600" dirty="0">
              <a:effectLst/>
              <a:latin typeface="Nimbus Roman No9 L"/>
              <a:ea typeface="Bitstream Vera Sans"/>
              <a:cs typeface="Times New Roman" panose="02020603050405020304" pitchFamily="18" charset="0"/>
            </a:endParaRPr>
          </a:p>
          <a:p>
            <a:pPr algn="l"/>
            <a:r>
              <a:rPr lang="en-GB"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3</a:t>
            </a:r>
            <a:r>
              <a:rPr lang="en-GB" sz="1800" kern="1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Add Courses </a:t>
            </a:r>
            <a:endParaRPr lang="en-IN" sz="1600" dirty="0">
              <a:effectLst/>
              <a:latin typeface="Nimbus Roman No9 L"/>
              <a:ea typeface="Bitstream Vera Sans"/>
              <a:cs typeface="Times New Roman" panose="02020603050405020304" pitchFamily="18" charset="0"/>
            </a:endParaRPr>
          </a:p>
          <a:p>
            <a:pPr algn="l"/>
            <a:r>
              <a:rPr lang="en-GB"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4</a:t>
            </a:r>
            <a:r>
              <a:rPr lang="en-GB" sz="1800" kern="1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Add Examination</a:t>
            </a:r>
            <a:endParaRPr lang="en-IN" sz="1600" dirty="0">
              <a:effectLst/>
              <a:latin typeface="Nimbus Roman No9 L"/>
              <a:ea typeface="Bitstream Vera Sans"/>
              <a:cs typeface="Times New Roman" panose="02020603050405020304" pitchFamily="18" charset="0"/>
            </a:endParaRPr>
          </a:p>
          <a:p>
            <a:pPr algn="l"/>
            <a:r>
              <a:rPr lang="en-GB"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5</a:t>
            </a:r>
            <a:r>
              <a:rPr lang="en-GB" sz="1800" kern="1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View Results </a:t>
            </a:r>
            <a:endParaRPr lang="en-IN" sz="1600" dirty="0">
              <a:effectLst/>
              <a:latin typeface="Nimbus Roman No9 L"/>
              <a:ea typeface="Bitstream Vera Sans"/>
              <a:cs typeface="Times New Roman" panose="02020603050405020304" pitchFamily="18" charset="0"/>
            </a:endParaRPr>
          </a:p>
          <a:p>
            <a:pPr algn="l"/>
            <a:r>
              <a:rPr lang="en-GB"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6</a:t>
            </a:r>
            <a:r>
              <a:rPr lang="en-GB" sz="1800" kern="1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Results</a:t>
            </a:r>
            <a:endParaRPr lang="en-IN" sz="1600" dirty="0">
              <a:effectLst/>
              <a:latin typeface="Nimbus Roman No9 L"/>
              <a:ea typeface="Bitstream Vera Sans"/>
              <a:cs typeface="Times New Roman" panose="02020603050405020304" pitchFamily="18" charset="0"/>
            </a:endParaRPr>
          </a:p>
          <a:p>
            <a:pPr algn="l"/>
            <a:r>
              <a:rPr lang="en-GB"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7</a:t>
            </a:r>
            <a:r>
              <a:rPr lang="en-GB" sz="1800" kern="1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Logout </a:t>
            </a:r>
            <a:endParaRPr lang="en-IN" sz="1600" dirty="0">
              <a:effectLst/>
              <a:latin typeface="Nimbus Roman No9 L"/>
              <a:ea typeface="Bitstream Vera Sans"/>
              <a:cs typeface="Times New Roman" panose="02020603050405020304" pitchFamily="18" charset="0"/>
            </a:endParaRPr>
          </a:p>
          <a:p>
            <a:pPr algn="l"/>
            <a:r>
              <a:rPr lang="en-GB"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8</a:t>
            </a:r>
            <a:r>
              <a:rPr lang="en-GB" sz="1800" kern="1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Exit</a:t>
            </a:r>
            <a:endParaRPr lang="en-IN" sz="1600" dirty="0">
              <a:effectLst/>
              <a:latin typeface="Nimbus Roman No9 L"/>
              <a:ea typeface="Bitstream Vera Sans"/>
              <a:cs typeface="Times New Roman" panose="02020603050405020304" pitchFamily="18" charset="0"/>
            </a:endParaRPr>
          </a:p>
        </p:txBody>
      </p:sp>
    </p:spTree>
    <p:extLst>
      <p:ext uri="{BB962C8B-B14F-4D97-AF65-F5344CB8AC3E}">
        <p14:creationId xmlns:p14="http://schemas.microsoft.com/office/powerpoint/2010/main" val="3437286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140F8-3800-A144-300D-DF70EA2197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D8E443-8096-DFBE-3ECF-194A2C9CF622}"/>
              </a:ext>
            </a:extLst>
          </p:cNvPr>
          <p:cNvSpPr txBox="1">
            <a:spLocks/>
          </p:cNvSpPr>
          <p:nvPr/>
        </p:nvSpPr>
        <p:spPr>
          <a:xfrm>
            <a:off x="1907100" y="761039"/>
            <a:ext cx="3441652" cy="605645"/>
          </a:xfrm>
          <a:prstGeom prst="rect">
            <a:avLst/>
          </a:prstGeom>
        </p:spPr>
        <p:txBody>
          <a:bodyPr>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800" dirty="0">
                <a:latin typeface="Times New Roman" panose="02020603050405020304" pitchFamily="18" charset="0"/>
                <a:cs typeface="Times New Roman" panose="02020603050405020304" pitchFamily="18" charset="0"/>
              </a:rPr>
              <a:t>Screen Design :</a:t>
            </a:r>
            <a:endParaRPr lang="en-IN" sz="2800" dirty="0"/>
          </a:p>
        </p:txBody>
      </p:sp>
      <p:sp>
        <p:nvSpPr>
          <p:cNvPr id="6" name="TextBox 5">
            <a:extLst>
              <a:ext uri="{FF2B5EF4-FFF2-40B4-BE49-F238E27FC236}">
                <a16:creationId xmlns:a16="http://schemas.microsoft.com/office/drawing/2014/main" id="{80FE9BBE-5DD9-03BC-3B5A-7C44837465FF}"/>
              </a:ext>
            </a:extLst>
          </p:cNvPr>
          <p:cNvSpPr txBox="1"/>
          <p:nvPr/>
        </p:nvSpPr>
        <p:spPr>
          <a:xfrm>
            <a:off x="3048000" y="1772104"/>
            <a:ext cx="6096000" cy="400110"/>
          </a:xfrm>
          <a:prstGeom prst="rect">
            <a:avLst/>
          </a:prstGeom>
          <a:noFill/>
        </p:spPr>
        <p:txBody>
          <a:bodyPr wrap="square">
            <a:spAutoFit/>
          </a:bodyPr>
          <a:lstStyle/>
          <a:p>
            <a:pPr marL="342900" lvl="0" indent="-342900" algn="ctr">
              <a:buFont typeface="+mj-lt"/>
              <a:buAutoNum type="arabicPeriod"/>
            </a:pPr>
            <a:r>
              <a:rPr lang="en-US" sz="2000" b="1" dirty="0">
                <a:effectLst/>
                <a:latin typeface="Times New Roman" panose="02020603050405020304" pitchFamily="18" charset="0"/>
                <a:ea typeface="Bitstream Vera Sans"/>
                <a:cs typeface="Times New Roman" panose="02020603050405020304" pitchFamily="18" charset="0"/>
              </a:rPr>
              <a:t>Login Page :</a:t>
            </a:r>
            <a:endParaRPr lang="en-IN" sz="1600" dirty="0">
              <a:effectLst/>
              <a:latin typeface="Nimbus Roman No9 L"/>
              <a:ea typeface="Bitstream Vera Sans"/>
              <a:cs typeface="Times New Roman" panose="02020603050405020304" pitchFamily="18" charset="0"/>
            </a:endParaRPr>
          </a:p>
        </p:txBody>
      </p:sp>
      <p:pic>
        <p:nvPicPr>
          <p:cNvPr id="1026" name="Picture 2">
            <a:extLst>
              <a:ext uri="{FF2B5EF4-FFF2-40B4-BE49-F238E27FC236}">
                <a16:creationId xmlns:a16="http://schemas.microsoft.com/office/drawing/2014/main" id="{4CBB5C17-AC8C-6B10-378E-D4A06C6A57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4877" y="2577634"/>
            <a:ext cx="7102246" cy="3745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9588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3E6E6-8F84-6B02-49E6-EC8EA4381E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5EE51-F169-3200-43C8-1A78A2826A20}"/>
              </a:ext>
            </a:extLst>
          </p:cNvPr>
          <p:cNvSpPr txBox="1">
            <a:spLocks/>
          </p:cNvSpPr>
          <p:nvPr/>
        </p:nvSpPr>
        <p:spPr>
          <a:xfrm>
            <a:off x="1907100" y="761039"/>
            <a:ext cx="3441652" cy="605645"/>
          </a:xfrm>
          <a:prstGeom prst="rect">
            <a:avLst/>
          </a:prstGeom>
        </p:spPr>
        <p:txBody>
          <a:bodyPr>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800" dirty="0">
                <a:latin typeface="Times New Roman" panose="02020603050405020304" pitchFamily="18" charset="0"/>
                <a:cs typeface="Times New Roman" panose="02020603050405020304" pitchFamily="18" charset="0"/>
              </a:rPr>
              <a:t>Screen Design :</a:t>
            </a:r>
            <a:endParaRPr lang="en-IN" sz="2800" dirty="0"/>
          </a:p>
        </p:txBody>
      </p:sp>
      <p:sp>
        <p:nvSpPr>
          <p:cNvPr id="6" name="TextBox 5">
            <a:extLst>
              <a:ext uri="{FF2B5EF4-FFF2-40B4-BE49-F238E27FC236}">
                <a16:creationId xmlns:a16="http://schemas.microsoft.com/office/drawing/2014/main" id="{23DF38B8-558E-CE03-E56A-66EA7D39C5C7}"/>
              </a:ext>
            </a:extLst>
          </p:cNvPr>
          <p:cNvSpPr txBox="1"/>
          <p:nvPr/>
        </p:nvSpPr>
        <p:spPr>
          <a:xfrm>
            <a:off x="3047999" y="1772104"/>
            <a:ext cx="6096000" cy="400110"/>
          </a:xfrm>
          <a:prstGeom prst="rect">
            <a:avLst/>
          </a:prstGeom>
          <a:noFill/>
        </p:spPr>
        <p:txBody>
          <a:bodyPr wrap="square">
            <a:spAutoFit/>
          </a:bodyPr>
          <a:lstStyle/>
          <a:p>
            <a:pPr lvl="0" algn="ctr"/>
            <a:r>
              <a:rPr lang="en-US" sz="2000" b="1" dirty="0">
                <a:latin typeface="Times New Roman" panose="02020603050405020304" pitchFamily="18" charset="0"/>
                <a:ea typeface="Bitstream Vera Sans"/>
                <a:cs typeface="Times New Roman" panose="02020603050405020304" pitchFamily="18" charset="0"/>
              </a:rPr>
              <a:t>2.   Dashboard Page :</a:t>
            </a:r>
            <a:endParaRPr lang="en-IN" sz="1600" dirty="0">
              <a:effectLst/>
              <a:latin typeface="Nimbus Roman No9 L"/>
              <a:ea typeface="Bitstream Vera Sans"/>
              <a:cs typeface="Times New Roman" panose="02020603050405020304" pitchFamily="18" charset="0"/>
            </a:endParaRPr>
          </a:p>
        </p:txBody>
      </p:sp>
      <p:pic>
        <p:nvPicPr>
          <p:cNvPr id="3074" name="Picture 2">
            <a:extLst>
              <a:ext uri="{FF2B5EF4-FFF2-40B4-BE49-F238E27FC236}">
                <a16:creationId xmlns:a16="http://schemas.microsoft.com/office/drawing/2014/main" id="{AB96CAED-CB28-90AA-538E-591969D33C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2150" y="2577634"/>
            <a:ext cx="8307700" cy="3744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1420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745C1-E57D-A0D3-64F6-957351103E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15910-8386-E2C2-6CDF-69E126915065}"/>
              </a:ext>
            </a:extLst>
          </p:cNvPr>
          <p:cNvSpPr txBox="1">
            <a:spLocks/>
          </p:cNvSpPr>
          <p:nvPr/>
        </p:nvSpPr>
        <p:spPr>
          <a:xfrm>
            <a:off x="1907100" y="761039"/>
            <a:ext cx="3441652" cy="605645"/>
          </a:xfrm>
          <a:prstGeom prst="rect">
            <a:avLst/>
          </a:prstGeom>
        </p:spPr>
        <p:txBody>
          <a:bodyPr>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800" dirty="0">
                <a:latin typeface="Times New Roman" panose="02020603050405020304" pitchFamily="18" charset="0"/>
                <a:cs typeface="Times New Roman" panose="02020603050405020304" pitchFamily="18" charset="0"/>
              </a:rPr>
              <a:t>Screen Design :</a:t>
            </a:r>
            <a:endParaRPr lang="en-IN" sz="2800" dirty="0"/>
          </a:p>
        </p:txBody>
      </p:sp>
      <p:sp>
        <p:nvSpPr>
          <p:cNvPr id="6" name="TextBox 5">
            <a:extLst>
              <a:ext uri="{FF2B5EF4-FFF2-40B4-BE49-F238E27FC236}">
                <a16:creationId xmlns:a16="http://schemas.microsoft.com/office/drawing/2014/main" id="{B5F3457B-81E5-5C47-462B-B4E7A33BE84F}"/>
              </a:ext>
            </a:extLst>
          </p:cNvPr>
          <p:cNvSpPr txBox="1"/>
          <p:nvPr/>
        </p:nvSpPr>
        <p:spPr>
          <a:xfrm>
            <a:off x="3047999" y="1772104"/>
            <a:ext cx="6096000" cy="400110"/>
          </a:xfrm>
          <a:prstGeom prst="rect">
            <a:avLst/>
          </a:prstGeom>
          <a:noFill/>
        </p:spPr>
        <p:txBody>
          <a:bodyPr wrap="square">
            <a:spAutoFit/>
          </a:bodyPr>
          <a:lstStyle/>
          <a:p>
            <a:pPr lvl="0" algn="ctr"/>
            <a:r>
              <a:rPr lang="en-US" sz="2000" b="1" dirty="0">
                <a:latin typeface="Times New Roman" panose="02020603050405020304" pitchFamily="18" charset="0"/>
                <a:ea typeface="Bitstream Vera Sans"/>
                <a:cs typeface="Times New Roman" panose="02020603050405020304" pitchFamily="18" charset="0"/>
              </a:rPr>
              <a:t>3. Manage Course Page :</a:t>
            </a:r>
            <a:endParaRPr lang="en-IN" sz="1600" dirty="0">
              <a:effectLst/>
              <a:latin typeface="Nimbus Roman No9 L"/>
              <a:ea typeface="Bitstream Vera Sans"/>
              <a:cs typeface="Times New Roman" panose="02020603050405020304" pitchFamily="18" charset="0"/>
            </a:endParaRPr>
          </a:p>
        </p:txBody>
      </p:sp>
      <p:pic>
        <p:nvPicPr>
          <p:cNvPr id="4098" name="Picture 2">
            <a:extLst>
              <a:ext uri="{FF2B5EF4-FFF2-40B4-BE49-F238E27FC236}">
                <a16:creationId xmlns:a16="http://schemas.microsoft.com/office/drawing/2014/main" id="{9AB83750-4C43-962F-F424-A3DBFAAB75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0947" y="2577634"/>
            <a:ext cx="9050105" cy="3597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6032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B9425-BD02-38CF-6BD3-8CAFC092AA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BBE7B0-E56D-3909-028D-D96C7D54532F}"/>
              </a:ext>
            </a:extLst>
          </p:cNvPr>
          <p:cNvSpPr txBox="1">
            <a:spLocks/>
          </p:cNvSpPr>
          <p:nvPr/>
        </p:nvSpPr>
        <p:spPr>
          <a:xfrm>
            <a:off x="1907100" y="761039"/>
            <a:ext cx="3441652" cy="605645"/>
          </a:xfrm>
          <a:prstGeom prst="rect">
            <a:avLst/>
          </a:prstGeom>
        </p:spPr>
        <p:txBody>
          <a:bodyPr>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800" dirty="0">
                <a:latin typeface="Times New Roman" panose="02020603050405020304" pitchFamily="18" charset="0"/>
                <a:cs typeface="Times New Roman" panose="02020603050405020304" pitchFamily="18" charset="0"/>
              </a:rPr>
              <a:t>Screen Design :</a:t>
            </a:r>
            <a:endParaRPr lang="en-IN" sz="2800" dirty="0"/>
          </a:p>
        </p:txBody>
      </p:sp>
      <p:sp>
        <p:nvSpPr>
          <p:cNvPr id="6" name="TextBox 5">
            <a:extLst>
              <a:ext uri="{FF2B5EF4-FFF2-40B4-BE49-F238E27FC236}">
                <a16:creationId xmlns:a16="http://schemas.microsoft.com/office/drawing/2014/main" id="{5D9E58B3-5AFE-57ED-31FA-ED629A6BA1D5}"/>
              </a:ext>
            </a:extLst>
          </p:cNvPr>
          <p:cNvSpPr txBox="1"/>
          <p:nvPr/>
        </p:nvSpPr>
        <p:spPr>
          <a:xfrm>
            <a:off x="3047999" y="1772104"/>
            <a:ext cx="6096000" cy="400110"/>
          </a:xfrm>
          <a:prstGeom prst="rect">
            <a:avLst/>
          </a:prstGeom>
          <a:noFill/>
        </p:spPr>
        <p:txBody>
          <a:bodyPr wrap="square">
            <a:spAutoFit/>
          </a:bodyPr>
          <a:lstStyle/>
          <a:p>
            <a:pPr lvl="0" algn="ctr"/>
            <a:r>
              <a:rPr lang="en-US" sz="2000" b="1" dirty="0">
                <a:latin typeface="Times New Roman" panose="02020603050405020304" pitchFamily="18" charset="0"/>
                <a:ea typeface="Bitstream Vera Sans"/>
                <a:cs typeface="Times New Roman" panose="02020603050405020304" pitchFamily="18" charset="0"/>
              </a:rPr>
              <a:t>4. Manage Student Page :</a:t>
            </a:r>
            <a:endParaRPr lang="en-IN" sz="1600" dirty="0">
              <a:effectLst/>
              <a:latin typeface="Nimbus Roman No9 L"/>
              <a:ea typeface="Bitstream Vera Sans"/>
              <a:cs typeface="Times New Roman" panose="02020603050405020304" pitchFamily="18" charset="0"/>
            </a:endParaRPr>
          </a:p>
        </p:txBody>
      </p:sp>
      <p:pic>
        <p:nvPicPr>
          <p:cNvPr id="5122" name="Picture 2">
            <a:extLst>
              <a:ext uri="{FF2B5EF4-FFF2-40B4-BE49-F238E27FC236}">
                <a16:creationId xmlns:a16="http://schemas.microsoft.com/office/drawing/2014/main" id="{534105C2-F1C5-69E1-7E30-450690634E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3369" y="2577634"/>
            <a:ext cx="8645261" cy="3449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7482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4CC75-DAA8-352B-3BC7-F473D5A36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CA26A-E233-0189-7932-D40B838793FB}"/>
              </a:ext>
            </a:extLst>
          </p:cNvPr>
          <p:cNvSpPr txBox="1">
            <a:spLocks/>
          </p:cNvSpPr>
          <p:nvPr/>
        </p:nvSpPr>
        <p:spPr>
          <a:xfrm>
            <a:off x="1907100" y="761039"/>
            <a:ext cx="3441652" cy="605645"/>
          </a:xfrm>
          <a:prstGeom prst="rect">
            <a:avLst/>
          </a:prstGeom>
        </p:spPr>
        <p:txBody>
          <a:bodyPr>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800" dirty="0">
                <a:latin typeface="Times New Roman" panose="02020603050405020304" pitchFamily="18" charset="0"/>
                <a:cs typeface="Times New Roman" panose="02020603050405020304" pitchFamily="18" charset="0"/>
              </a:rPr>
              <a:t>Screen Design :</a:t>
            </a:r>
            <a:endParaRPr lang="en-IN" sz="2800" dirty="0"/>
          </a:p>
        </p:txBody>
      </p:sp>
      <p:sp>
        <p:nvSpPr>
          <p:cNvPr id="6" name="TextBox 5">
            <a:extLst>
              <a:ext uri="{FF2B5EF4-FFF2-40B4-BE49-F238E27FC236}">
                <a16:creationId xmlns:a16="http://schemas.microsoft.com/office/drawing/2014/main" id="{16224591-CA2D-02FA-777A-37865084E3FB}"/>
              </a:ext>
            </a:extLst>
          </p:cNvPr>
          <p:cNvSpPr txBox="1"/>
          <p:nvPr/>
        </p:nvSpPr>
        <p:spPr>
          <a:xfrm>
            <a:off x="3047999" y="1772104"/>
            <a:ext cx="6096000" cy="400110"/>
          </a:xfrm>
          <a:prstGeom prst="rect">
            <a:avLst/>
          </a:prstGeom>
          <a:noFill/>
        </p:spPr>
        <p:txBody>
          <a:bodyPr wrap="square">
            <a:spAutoFit/>
          </a:bodyPr>
          <a:lstStyle/>
          <a:p>
            <a:pPr lvl="0" algn="ctr"/>
            <a:r>
              <a:rPr lang="en-US" sz="2000" b="1" dirty="0">
                <a:latin typeface="Times New Roman" panose="02020603050405020304" pitchFamily="18" charset="0"/>
                <a:ea typeface="Bitstream Vera Sans"/>
                <a:cs typeface="Times New Roman" panose="02020603050405020304" pitchFamily="18" charset="0"/>
              </a:rPr>
              <a:t>5. Result Page :</a:t>
            </a:r>
            <a:endParaRPr lang="en-IN" sz="1600" dirty="0">
              <a:effectLst/>
              <a:latin typeface="Nimbus Roman No9 L"/>
              <a:ea typeface="Bitstream Vera Sans"/>
              <a:cs typeface="Times New Roman" panose="02020603050405020304" pitchFamily="18" charset="0"/>
            </a:endParaRPr>
          </a:p>
        </p:txBody>
      </p:sp>
      <p:pic>
        <p:nvPicPr>
          <p:cNvPr id="6146" name="Picture 2">
            <a:extLst>
              <a:ext uri="{FF2B5EF4-FFF2-40B4-BE49-F238E27FC236}">
                <a16:creationId xmlns:a16="http://schemas.microsoft.com/office/drawing/2014/main" id="{C06446CC-F6AB-D92D-68DC-0AD5B261C5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3226" y="2577634"/>
            <a:ext cx="8465547" cy="3380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4750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C02DC-D2F8-5620-FA53-13FA50A5BC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A2592-4EEE-DB6C-BB04-8A37791CD08A}"/>
              </a:ext>
            </a:extLst>
          </p:cNvPr>
          <p:cNvSpPr txBox="1">
            <a:spLocks/>
          </p:cNvSpPr>
          <p:nvPr/>
        </p:nvSpPr>
        <p:spPr>
          <a:xfrm>
            <a:off x="1907100" y="761039"/>
            <a:ext cx="3441652" cy="605645"/>
          </a:xfrm>
          <a:prstGeom prst="rect">
            <a:avLst/>
          </a:prstGeom>
        </p:spPr>
        <p:txBody>
          <a:bodyPr>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800" dirty="0">
                <a:latin typeface="Times New Roman" panose="02020603050405020304" pitchFamily="18" charset="0"/>
                <a:cs typeface="Times New Roman" panose="02020603050405020304" pitchFamily="18" charset="0"/>
              </a:rPr>
              <a:t>Screen Design :</a:t>
            </a:r>
            <a:endParaRPr lang="en-IN" sz="2800" dirty="0"/>
          </a:p>
        </p:txBody>
      </p:sp>
      <p:sp>
        <p:nvSpPr>
          <p:cNvPr id="6" name="TextBox 5">
            <a:extLst>
              <a:ext uri="{FF2B5EF4-FFF2-40B4-BE49-F238E27FC236}">
                <a16:creationId xmlns:a16="http://schemas.microsoft.com/office/drawing/2014/main" id="{B30579F8-0009-8BDB-CE79-2AC30316B89D}"/>
              </a:ext>
            </a:extLst>
          </p:cNvPr>
          <p:cNvSpPr txBox="1"/>
          <p:nvPr/>
        </p:nvSpPr>
        <p:spPr>
          <a:xfrm>
            <a:off x="3047999" y="1772104"/>
            <a:ext cx="6096000" cy="400110"/>
          </a:xfrm>
          <a:prstGeom prst="rect">
            <a:avLst/>
          </a:prstGeom>
          <a:noFill/>
        </p:spPr>
        <p:txBody>
          <a:bodyPr wrap="square">
            <a:spAutoFit/>
          </a:bodyPr>
          <a:lstStyle/>
          <a:p>
            <a:pPr lvl="0" algn="ctr"/>
            <a:r>
              <a:rPr lang="en-US" sz="2000" b="1" dirty="0">
                <a:latin typeface="Times New Roman" panose="02020603050405020304" pitchFamily="18" charset="0"/>
                <a:ea typeface="Bitstream Vera Sans"/>
                <a:cs typeface="Times New Roman" panose="02020603050405020304" pitchFamily="18" charset="0"/>
              </a:rPr>
              <a:t>6. View Result Page :</a:t>
            </a:r>
            <a:endParaRPr lang="en-IN" sz="1600" dirty="0">
              <a:effectLst/>
              <a:latin typeface="Nimbus Roman No9 L"/>
              <a:ea typeface="Bitstream Vera Sans"/>
              <a:cs typeface="Times New Roman" panose="02020603050405020304" pitchFamily="18" charset="0"/>
            </a:endParaRPr>
          </a:p>
        </p:txBody>
      </p:sp>
      <p:pic>
        <p:nvPicPr>
          <p:cNvPr id="7170" name="Picture 2">
            <a:extLst>
              <a:ext uri="{FF2B5EF4-FFF2-40B4-BE49-F238E27FC236}">
                <a16:creationId xmlns:a16="http://schemas.microsoft.com/office/drawing/2014/main" id="{E8E90AF7-CDB8-5DB1-A96A-1E417D3494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0188" y="2577634"/>
            <a:ext cx="8811624" cy="3519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4041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D0136-801E-6E25-BDCB-072EDE446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C43FB-31C4-0D1E-51E3-281AE9414941}"/>
              </a:ext>
            </a:extLst>
          </p:cNvPr>
          <p:cNvSpPr txBox="1">
            <a:spLocks/>
          </p:cNvSpPr>
          <p:nvPr/>
        </p:nvSpPr>
        <p:spPr>
          <a:xfrm>
            <a:off x="1907100" y="761039"/>
            <a:ext cx="2517416" cy="605645"/>
          </a:xfrm>
          <a:prstGeom prst="rect">
            <a:avLst/>
          </a:prstGeom>
        </p:spPr>
        <p:txBody>
          <a:bodyPr>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800" dirty="0">
                <a:latin typeface="Times New Roman" panose="02020603050405020304" pitchFamily="18" charset="0"/>
                <a:cs typeface="Times New Roman" panose="02020603050405020304" pitchFamily="18" charset="0"/>
              </a:rPr>
              <a:t>Algorithm :</a:t>
            </a:r>
            <a:endParaRPr lang="en-IN" sz="2800" dirty="0"/>
          </a:p>
        </p:txBody>
      </p:sp>
      <p:sp>
        <p:nvSpPr>
          <p:cNvPr id="4" name="TextBox 3">
            <a:extLst>
              <a:ext uri="{FF2B5EF4-FFF2-40B4-BE49-F238E27FC236}">
                <a16:creationId xmlns:a16="http://schemas.microsoft.com/office/drawing/2014/main" id="{7329FC7D-0CA6-F70A-26E0-37080EBD751F}"/>
              </a:ext>
            </a:extLst>
          </p:cNvPr>
          <p:cNvSpPr txBox="1"/>
          <p:nvPr/>
        </p:nvSpPr>
        <p:spPr>
          <a:xfrm>
            <a:off x="1907100" y="1366684"/>
            <a:ext cx="8485597" cy="5447645"/>
          </a:xfrm>
          <a:prstGeom prst="rect">
            <a:avLst/>
          </a:prstGeom>
          <a:noFill/>
        </p:spPr>
        <p:txBody>
          <a:bodyPr wrap="square">
            <a:spAutoFit/>
          </a:bodyPr>
          <a:lstStyle/>
          <a:p>
            <a:pPr algn="just"/>
            <a:r>
              <a:rPr lang="en-US" sz="1200" b="1" dirty="0">
                <a:effectLst/>
                <a:latin typeface="Times New Roman" panose="02020603050405020304" pitchFamily="18" charset="0"/>
                <a:ea typeface="Bitstream Vera Sans"/>
                <a:cs typeface="Times New Roman" panose="02020603050405020304" pitchFamily="18" charset="0"/>
              </a:rPr>
              <a:t>Step 1: Create Data Structures</a:t>
            </a:r>
            <a:endParaRPr lang="en-IN" sz="1200" dirty="0">
              <a:effectLst/>
              <a:latin typeface="Nimbus Roman No9 L"/>
              <a:ea typeface="Bitstream Vera Sans"/>
              <a:cs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US" sz="1200" dirty="0">
                <a:effectLst/>
                <a:latin typeface="Times New Roman" panose="02020603050405020304" pitchFamily="18" charset="0"/>
                <a:ea typeface="Bitstream Vera Sans"/>
                <a:cs typeface="Times New Roman" panose="02020603050405020304" pitchFamily="18" charset="0"/>
              </a:rPr>
              <a:t>Create data structures to store information about students, courses, assessments, and results.</a:t>
            </a:r>
            <a:endParaRPr lang="en-IN" sz="1200" dirty="0">
              <a:effectLst/>
              <a:latin typeface="Nimbus Roman No9 L"/>
              <a:ea typeface="Bitstream Vera Sans"/>
              <a:cs typeface="Times New Roman" panose="02020603050405020304" pitchFamily="18" charset="0"/>
            </a:endParaRPr>
          </a:p>
          <a:p>
            <a:pPr algn="just"/>
            <a:r>
              <a:rPr lang="en-US" sz="1200" b="1" dirty="0">
                <a:effectLst/>
                <a:latin typeface="Times New Roman" panose="02020603050405020304" pitchFamily="18" charset="0"/>
                <a:ea typeface="Bitstream Vera Sans"/>
                <a:cs typeface="Times New Roman" panose="02020603050405020304" pitchFamily="18" charset="0"/>
              </a:rPr>
              <a:t>Add Student:</a:t>
            </a:r>
            <a:endParaRPr lang="en-IN" sz="1200" dirty="0">
              <a:effectLst/>
              <a:latin typeface="Nimbus Roman No9 L"/>
              <a:ea typeface="Bitstream Vera Sans"/>
              <a:cs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US" sz="1200" b="1" dirty="0">
                <a:effectLst/>
                <a:latin typeface="Times New Roman" panose="02020603050405020304" pitchFamily="18" charset="0"/>
                <a:ea typeface="Bitstream Vera Sans"/>
                <a:cs typeface="Times New Roman" panose="02020603050405020304" pitchFamily="18" charset="0"/>
              </a:rPr>
              <a:t>Step 2:</a:t>
            </a:r>
            <a:r>
              <a:rPr lang="en-US" sz="1200" dirty="0">
                <a:effectLst/>
                <a:latin typeface="Times New Roman" panose="02020603050405020304" pitchFamily="18" charset="0"/>
                <a:ea typeface="Bitstream Vera Sans"/>
                <a:cs typeface="Times New Roman" panose="02020603050405020304" pitchFamily="18" charset="0"/>
              </a:rPr>
              <a:t> Prompt the user (e.g., administrator) to enter details of the student (such as name, student ID, contact information, etc.).</a:t>
            </a:r>
            <a:endParaRPr lang="en-IN" sz="1200" dirty="0">
              <a:effectLst/>
              <a:latin typeface="Nimbus Roman No9 L"/>
              <a:ea typeface="Bitstream Vera Sans"/>
              <a:cs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US" sz="1200" dirty="0">
                <a:effectLst/>
                <a:latin typeface="Times New Roman" panose="02020603050405020304" pitchFamily="18" charset="0"/>
                <a:ea typeface="Bitstream Vera Sans"/>
                <a:cs typeface="Times New Roman" panose="02020603050405020304" pitchFamily="18" charset="0"/>
              </a:rPr>
              <a:t>Add the student to the system’s database.</a:t>
            </a:r>
            <a:endParaRPr lang="en-IN" sz="1200" dirty="0">
              <a:effectLst/>
              <a:latin typeface="Nimbus Roman No9 L"/>
              <a:ea typeface="Bitstream Vera Sans"/>
              <a:cs typeface="Times New Roman" panose="02020603050405020304" pitchFamily="18" charset="0"/>
            </a:endParaRPr>
          </a:p>
          <a:p>
            <a:pPr algn="just"/>
            <a:r>
              <a:rPr lang="en-US" sz="1200" b="1" dirty="0">
                <a:effectLst/>
                <a:latin typeface="Times New Roman" panose="02020603050405020304" pitchFamily="18" charset="0"/>
                <a:ea typeface="Bitstream Vera Sans"/>
                <a:cs typeface="Times New Roman" panose="02020603050405020304" pitchFamily="18" charset="0"/>
              </a:rPr>
              <a:t>Remove Student:</a:t>
            </a:r>
            <a:endParaRPr lang="en-IN" sz="1200" dirty="0">
              <a:effectLst/>
              <a:latin typeface="Nimbus Roman No9 L"/>
              <a:ea typeface="Bitstream Vera Sans"/>
              <a:cs typeface="Times New Roman" panose="02020603050405020304" pitchFamily="18" charset="0"/>
            </a:endParaRPr>
          </a:p>
          <a:p>
            <a:pPr marL="342900" lvl="0" indent="-342900" algn="just">
              <a:buFont typeface="Arial" panose="020B0604020202020204" pitchFamily="34" charset="0"/>
              <a:buChar char="•"/>
              <a:tabLst>
                <a:tab pos="457200" algn="l"/>
              </a:tabLst>
            </a:pPr>
            <a:r>
              <a:rPr lang="en-US" sz="1200" b="1" dirty="0">
                <a:effectLst/>
                <a:latin typeface="Times New Roman" panose="02020603050405020304" pitchFamily="18" charset="0"/>
                <a:ea typeface="Bitstream Vera Sans"/>
                <a:cs typeface="Times New Roman" panose="02020603050405020304" pitchFamily="18" charset="0"/>
              </a:rPr>
              <a:t>Step 3:</a:t>
            </a:r>
            <a:r>
              <a:rPr lang="en-US" sz="1200" dirty="0">
                <a:effectLst/>
                <a:latin typeface="Times New Roman" panose="02020603050405020304" pitchFamily="18" charset="0"/>
                <a:ea typeface="Bitstream Vera Sans"/>
                <a:cs typeface="Times New Roman" panose="02020603050405020304" pitchFamily="18" charset="0"/>
              </a:rPr>
              <a:t> Prompt the user to enter the student’s identifier (such as student ID).</a:t>
            </a:r>
            <a:endParaRPr lang="en-IN" sz="1200" dirty="0">
              <a:effectLst/>
              <a:latin typeface="Nimbus Roman No9 L"/>
              <a:ea typeface="Bitstream Vera Sans"/>
              <a:cs typeface="Times New Roman" panose="02020603050405020304" pitchFamily="18" charset="0"/>
            </a:endParaRPr>
          </a:p>
          <a:p>
            <a:pPr marL="342900" lvl="0" indent="-342900" algn="just">
              <a:buFont typeface="Arial" panose="020B0604020202020204" pitchFamily="34" charset="0"/>
              <a:buChar char="•"/>
              <a:tabLst>
                <a:tab pos="457200" algn="l"/>
              </a:tabLst>
            </a:pPr>
            <a:r>
              <a:rPr lang="en-US" sz="1200" dirty="0">
                <a:effectLst/>
                <a:latin typeface="Times New Roman" panose="02020603050405020304" pitchFamily="18" charset="0"/>
                <a:ea typeface="Bitstream Vera Sans"/>
                <a:cs typeface="Times New Roman" panose="02020603050405020304" pitchFamily="18" charset="0"/>
              </a:rPr>
              <a:t>Remove the student from the system’s database.</a:t>
            </a:r>
            <a:endParaRPr lang="en-IN" sz="1200" dirty="0">
              <a:effectLst/>
              <a:latin typeface="Nimbus Roman No9 L"/>
              <a:ea typeface="Bitstream Vera Sans"/>
              <a:cs typeface="Times New Roman" panose="02020603050405020304" pitchFamily="18" charset="0"/>
            </a:endParaRPr>
          </a:p>
          <a:p>
            <a:pPr algn="just"/>
            <a:r>
              <a:rPr lang="en-US" sz="1200" b="1" dirty="0">
                <a:effectLst/>
                <a:latin typeface="Times New Roman" panose="02020603050405020304" pitchFamily="18" charset="0"/>
                <a:ea typeface="Bitstream Vera Sans"/>
                <a:cs typeface="Times New Roman" panose="02020603050405020304" pitchFamily="18" charset="0"/>
              </a:rPr>
              <a:t>Add Course:</a:t>
            </a:r>
            <a:endParaRPr lang="en-IN" sz="1200" dirty="0">
              <a:effectLst/>
              <a:latin typeface="Nimbus Roman No9 L"/>
              <a:ea typeface="Bitstream Vera Sans"/>
              <a:cs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US" sz="1200" b="1" dirty="0">
                <a:effectLst/>
                <a:latin typeface="Times New Roman" panose="02020603050405020304" pitchFamily="18" charset="0"/>
                <a:ea typeface="Bitstream Vera Sans"/>
                <a:cs typeface="Times New Roman" panose="02020603050405020304" pitchFamily="18" charset="0"/>
              </a:rPr>
              <a:t>Step 4:</a:t>
            </a:r>
            <a:r>
              <a:rPr lang="en-US" sz="1200" dirty="0">
                <a:effectLst/>
                <a:latin typeface="Times New Roman" panose="02020603050405020304" pitchFamily="18" charset="0"/>
                <a:ea typeface="Bitstream Vera Sans"/>
                <a:cs typeface="Times New Roman" panose="02020603050405020304" pitchFamily="18" charset="0"/>
              </a:rPr>
              <a:t> Prompt the user to enter details of the course (such as course title, course code, instructor, etc.).</a:t>
            </a:r>
            <a:endParaRPr lang="en-IN" sz="1200" dirty="0">
              <a:effectLst/>
              <a:latin typeface="Nimbus Roman No9 L"/>
              <a:ea typeface="Bitstream Vera Sans"/>
              <a:cs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US" sz="1200" dirty="0">
                <a:effectLst/>
                <a:latin typeface="Times New Roman" panose="02020603050405020304" pitchFamily="18" charset="0"/>
                <a:ea typeface="Bitstream Vera Sans"/>
                <a:cs typeface="Times New Roman" panose="02020603050405020304" pitchFamily="18" charset="0"/>
              </a:rPr>
              <a:t>Add the course to the system’s database.</a:t>
            </a:r>
            <a:endParaRPr lang="en-IN" sz="1200" dirty="0">
              <a:effectLst/>
              <a:latin typeface="Nimbus Roman No9 L"/>
              <a:ea typeface="Bitstream Vera Sans"/>
              <a:cs typeface="Times New Roman" panose="02020603050405020304" pitchFamily="18" charset="0"/>
            </a:endParaRPr>
          </a:p>
          <a:p>
            <a:pPr algn="just"/>
            <a:r>
              <a:rPr lang="en-US" sz="1200" b="1" dirty="0">
                <a:effectLst/>
                <a:latin typeface="Times New Roman" panose="02020603050405020304" pitchFamily="18" charset="0"/>
                <a:ea typeface="Bitstream Vera Sans"/>
                <a:cs typeface="Times New Roman" panose="02020603050405020304" pitchFamily="18" charset="0"/>
              </a:rPr>
              <a:t>Remove Course:</a:t>
            </a:r>
            <a:endParaRPr lang="en-IN" sz="1200" dirty="0">
              <a:effectLst/>
              <a:latin typeface="Nimbus Roman No9 L"/>
              <a:ea typeface="Bitstream Vera Sans"/>
              <a:cs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US" sz="1200" b="1" dirty="0">
                <a:effectLst/>
                <a:latin typeface="Times New Roman" panose="02020603050405020304" pitchFamily="18" charset="0"/>
                <a:ea typeface="Bitstream Vera Sans"/>
                <a:cs typeface="Times New Roman" panose="02020603050405020304" pitchFamily="18" charset="0"/>
              </a:rPr>
              <a:t>Step 5:</a:t>
            </a:r>
            <a:r>
              <a:rPr lang="en-US" sz="1200" dirty="0">
                <a:effectLst/>
                <a:latin typeface="Times New Roman" panose="02020603050405020304" pitchFamily="18" charset="0"/>
                <a:ea typeface="Bitstream Vera Sans"/>
                <a:cs typeface="Times New Roman" panose="02020603050405020304" pitchFamily="18" charset="0"/>
              </a:rPr>
              <a:t> Prompt the user to enter the course identifier (such as course code).</a:t>
            </a:r>
            <a:endParaRPr lang="en-IN" sz="1200" dirty="0">
              <a:effectLst/>
              <a:latin typeface="Nimbus Roman No9 L"/>
              <a:ea typeface="Bitstream Vera Sans"/>
              <a:cs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US" sz="1200" dirty="0">
                <a:effectLst/>
                <a:latin typeface="Times New Roman" panose="02020603050405020304" pitchFamily="18" charset="0"/>
                <a:ea typeface="Bitstream Vera Sans"/>
                <a:cs typeface="Times New Roman" panose="02020603050405020304" pitchFamily="18" charset="0"/>
              </a:rPr>
              <a:t>Remove the course from the system’s database.</a:t>
            </a:r>
            <a:endParaRPr lang="en-IN" sz="1200" dirty="0">
              <a:effectLst/>
              <a:latin typeface="Nimbus Roman No9 L"/>
              <a:ea typeface="Bitstream Vera Sans"/>
              <a:cs typeface="Times New Roman" panose="02020603050405020304" pitchFamily="18" charset="0"/>
            </a:endParaRPr>
          </a:p>
          <a:p>
            <a:pPr algn="just"/>
            <a:r>
              <a:rPr lang="en-US" sz="1200" b="1" dirty="0">
                <a:effectLst/>
                <a:latin typeface="Times New Roman" panose="02020603050405020304" pitchFamily="18" charset="0"/>
                <a:ea typeface="Bitstream Vera Sans"/>
                <a:cs typeface="Times New Roman" panose="02020603050405020304" pitchFamily="18" charset="0"/>
              </a:rPr>
              <a:t>Enroll Student:</a:t>
            </a:r>
            <a:endParaRPr lang="en-IN" sz="1200" dirty="0">
              <a:effectLst/>
              <a:latin typeface="Nimbus Roman No9 L"/>
              <a:ea typeface="Bitstream Vera Sans"/>
              <a:cs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US" sz="1200" b="1" dirty="0">
                <a:effectLst/>
                <a:latin typeface="Times New Roman" panose="02020603050405020304" pitchFamily="18" charset="0"/>
                <a:ea typeface="Bitstream Vera Sans"/>
                <a:cs typeface="Times New Roman" panose="02020603050405020304" pitchFamily="18" charset="0"/>
              </a:rPr>
              <a:t>Step 6:</a:t>
            </a:r>
            <a:r>
              <a:rPr lang="en-US" sz="1200" dirty="0">
                <a:effectLst/>
                <a:latin typeface="Times New Roman" panose="02020603050405020304" pitchFamily="18" charset="0"/>
                <a:ea typeface="Bitstream Vera Sans"/>
                <a:cs typeface="Times New Roman" panose="02020603050405020304" pitchFamily="18" charset="0"/>
              </a:rPr>
              <a:t> Prompt the user to input the student’s ID and the course they wish to enroll in.</a:t>
            </a:r>
            <a:endParaRPr lang="en-IN" sz="1200" dirty="0">
              <a:effectLst/>
              <a:latin typeface="Nimbus Roman No9 L"/>
              <a:ea typeface="Bitstream Vera Sans"/>
              <a:cs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US" sz="1200" dirty="0">
                <a:effectLst/>
                <a:latin typeface="Times New Roman" panose="02020603050405020304" pitchFamily="18" charset="0"/>
                <a:ea typeface="Bitstream Vera Sans"/>
                <a:cs typeface="Times New Roman" panose="02020603050405020304" pitchFamily="18" charset="0"/>
              </a:rPr>
              <a:t>Enroll the student in the specified course and update records.</a:t>
            </a:r>
            <a:endParaRPr lang="en-IN" sz="1200" dirty="0">
              <a:effectLst/>
              <a:latin typeface="Nimbus Roman No9 L"/>
              <a:ea typeface="Bitstream Vera Sans"/>
              <a:cs typeface="Times New Roman" panose="02020603050405020304" pitchFamily="18" charset="0"/>
            </a:endParaRPr>
          </a:p>
          <a:p>
            <a:pPr algn="just"/>
            <a:r>
              <a:rPr lang="en-US" sz="1200" b="1" dirty="0">
                <a:effectLst/>
                <a:latin typeface="Times New Roman" panose="02020603050405020304" pitchFamily="18" charset="0"/>
                <a:ea typeface="Bitstream Vera Sans"/>
                <a:cs typeface="Times New Roman" panose="02020603050405020304" pitchFamily="18" charset="0"/>
              </a:rPr>
              <a:t>Assign Grade:</a:t>
            </a:r>
            <a:endParaRPr lang="en-IN" sz="1200" dirty="0">
              <a:effectLst/>
              <a:latin typeface="Nimbus Roman No9 L"/>
              <a:ea typeface="Bitstream Vera Sans"/>
              <a:cs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US" sz="1200" b="1" dirty="0">
                <a:effectLst/>
                <a:latin typeface="Times New Roman" panose="02020603050405020304" pitchFamily="18" charset="0"/>
                <a:ea typeface="Bitstream Vera Sans"/>
                <a:cs typeface="Times New Roman" panose="02020603050405020304" pitchFamily="18" charset="0"/>
              </a:rPr>
              <a:t>Step 7:</a:t>
            </a:r>
            <a:r>
              <a:rPr lang="en-US" sz="1200" dirty="0">
                <a:effectLst/>
                <a:latin typeface="Times New Roman" panose="02020603050405020304" pitchFamily="18" charset="0"/>
                <a:ea typeface="Bitstream Vera Sans"/>
                <a:cs typeface="Times New Roman" panose="02020603050405020304" pitchFamily="18" charset="0"/>
              </a:rPr>
              <a:t> Prompt the user to input the student’s ID, course code, and the grade to be assigned.</a:t>
            </a:r>
            <a:endParaRPr lang="en-IN" sz="1200" dirty="0">
              <a:effectLst/>
              <a:latin typeface="Nimbus Roman No9 L"/>
              <a:ea typeface="Bitstream Vera Sans"/>
              <a:cs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US" sz="1200" dirty="0">
                <a:effectLst/>
                <a:latin typeface="Times New Roman" panose="02020603050405020304" pitchFamily="18" charset="0"/>
                <a:ea typeface="Bitstream Vera Sans"/>
                <a:cs typeface="Times New Roman" panose="02020603050405020304" pitchFamily="18" charset="0"/>
              </a:rPr>
              <a:t>Record the grade in the system.</a:t>
            </a:r>
            <a:endParaRPr lang="en-IN" sz="1200" dirty="0">
              <a:effectLst/>
              <a:latin typeface="Nimbus Roman No9 L"/>
              <a:ea typeface="Bitstream Vera Sans"/>
              <a:cs typeface="Times New Roman" panose="02020603050405020304" pitchFamily="18" charset="0"/>
            </a:endParaRPr>
          </a:p>
          <a:p>
            <a:pPr algn="just"/>
            <a:r>
              <a:rPr lang="en-US" sz="1200" b="1" dirty="0">
                <a:effectLst/>
                <a:latin typeface="Times New Roman" panose="02020603050405020304" pitchFamily="18" charset="0"/>
                <a:ea typeface="Bitstream Vera Sans"/>
                <a:cs typeface="Times New Roman" panose="02020603050405020304" pitchFamily="18" charset="0"/>
              </a:rPr>
              <a:t>Search Student Results:</a:t>
            </a:r>
            <a:endParaRPr lang="en-IN" sz="1200" dirty="0">
              <a:effectLst/>
              <a:latin typeface="Nimbus Roman No9 L"/>
              <a:ea typeface="Bitstream Vera Sans"/>
              <a:cs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US" sz="1200" b="1" dirty="0">
                <a:effectLst/>
                <a:latin typeface="Times New Roman" panose="02020603050405020304" pitchFamily="18" charset="0"/>
                <a:ea typeface="Bitstream Vera Sans"/>
                <a:cs typeface="Times New Roman" panose="02020603050405020304" pitchFamily="18" charset="0"/>
              </a:rPr>
              <a:t>Step 8:</a:t>
            </a:r>
            <a:r>
              <a:rPr lang="en-US" sz="1200" dirty="0">
                <a:effectLst/>
                <a:latin typeface="Times New Roman" panose="02020603050405020304" pitchFamily="18" charset="0"/>
                <a:ea typeface="Bitstream Vera Sans"/>
                <a:cs typeface="Times New Roman" panose="02020603050405020304" pitchFamily="18" charset="0"/>
              </a:rPr>
              <a:t> Prompt the user to input search criteria (student ID, course code, etc.).</a:t>
            </a:r>
            <a:endParaRPr lang="en-IN" sz="1200" dirty="0">
              <a:effectLst/>
              <a:latin typeface="Nimbus Roman No9 L"/>
              <a:ea typeface="Bitstream Vera Sans"/>
              <a:cs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US" sz="1200" dirty="0">
                <a:effectLst/>
                <a:latin typeface="Times New Roman" panose="02020603050405020304" pitchFamily="18" charset="0"/>
                <a:ea typeface="Bitstream Vera Sans"/>
                <a:cs typeface="Times New Roman" panose="02020603050405020304" pitchFamily="18" charset="0"/>
              </a:rPr>
              <a:t>Display the results and grades for the student based on the search criteria.</a:t>
            </a:r>
            <a:endParaRPr lang="en-IN" sz="1200" dirty="0">
              <a:effectLst/>
              <a:latin typeface="Nimbus Roman No9 L"/>
              <a:ea typeface="Bitstream Vera Sans"/>
              <a:cs typeface="Times New Roman" panose="02020603050405020304" pitchFamily="18" charset="0"/>
            </a:endParaRPr>
          </a:p>
          <a:p>
            <a:pPr algn="just"/>
            <a:r>
              <a:rPr lang="en-US" sz="1200" b="1" dirty="0">
                <a:effectLst/>
                <a:latin typeface="Times New Roman" panose="02020603050405020304" pitchFamily="18" charset="0"/>
                <a:ea typeface="Bitstream Vera Sans"/>
                <a:cs typeface="Times New Roman" panose="02020603050405020304" pitchFamily="18" charset="0"/>
              </a:rPr>
              <a:t>Generate Reports:</a:t>
            </a:r>
            <a:endParaRPr lang="en-IN" sz="1200" dirty="0">
              <a:effectLst/>
              <a:latin typeface="Nimbus Roman No9 L"/>
              <a:ea typeface="Bitstream Vera Sans"/>
              <a:cs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US" sz="1200" b="1" dirty="0">
                <a:effectLst/>
                <a:latin typeface="Times New Roman" panose="02020603050405020304" pitchFamily="18" charset="0"/>
                <a:ea typeface="Bitstream Vera Sans"/>
                <a:cs typeface="Times New Roman" panose="02020603050405020304" pitchFamily="18" charset="0"/>
              </a:rPr>
              <a:t>Step 9:</a:t>
            </a:r>
            <a:r>
              <a:rPr lang="en-US" sz="1200" dirty="0">
                <a:effectLst/>
                <a:latin typeface="Times New Roman" panose="02020603050405020304" pitchFamily="18" charset="0"/>
                <a:ea typeface="Bitstream Vera Sans"/>
                <a:cs typeface="Times New Roman" panose="02020603050405020304" pitchFamily="18" charset="0"/>
              </a:rPr>
              <a:t> Generate reports on various aspects such as overall student performance, average grades per course, etc.</a:t>
            </a:r>
            <a:endParaRPr lang="en-IN" sz="1200" dirty="0">
              <a:effectLst/>
              <a:latin typeface="Nimbus Roman No9 L"/>
              <a:ea typeface="Bitstream Vera Sans"/>
              <a:cs typeface="Times New Roman" panose="02020603050405020304" pitchFamily="18" charset="0"/>
            </a:endParaRPr>
          </a:p>
          <a:p>
            <a:pPr algn="just"/>
            <a:r>
              <a:rPr lang="en-US" sz="1200" b="1" dirty="0">
                <a:effectLst/>
                <a:latin typeface="Times New Roman" panose="02020603050405020304" pitchFamily="18" charset="0"/>
                <a:ea typeface="Bitstream Vera Sans"/>
                <a:cs typeface="Times New Roman" panose="02020603050405020304" pitchFamily="18" charset="0"/>
              </a:rPr>
              <a:t>User Management:</a:t>
            </a:r>
            <a:endParaRPr lang="en-IN" sz="1200" dirty="0">
              <a:effectLst/>
              <a:latin typeface="Nimbus Roman No9 L"/>
              <a:ea typeface="Bitstream Vera Sans"/>
              <a:cs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US" sz="1200" b="1" dirty="0">
                <a:effectLst/>
                <a:latin typeface="Times New Roman" panose="02020603050405020304" pitchFamily="18" charset="0"/>
                <a:ea typeface="Bitstream Vera Sans"/>
                <a:cs typeface="Times New Roman" panose="02020603050405020304" pitchFamily="18" charset="0"/>
              </a:rPr>
              <a:t>Step 10:</a:t>
            </a:r>
            <a:r>
              <a:rPr lang="en-US" sz="1200" dirty="0">
                <a:effectLst/>
                <a:latin typeface="Times New Roman" panose="02020603050405020304" pitchFamily="18" charset="0"/>
                <a:ea typeface="Bitstream Vera Sans"/>
                <a:cs typeface="Times New Roman" panose="02020603050405020304" pitchFamily="18" charset="0"/>
              </a:rPr>
              <a:t> Add, remove, or modify user information (such as name, role, contact details, etc.).</a:t>
            </a:r>
            <a:endParaRPr lang="en-IN" sz="1200" dirty="0">
              <a:effectLst/>
              <a:latin typeface="Nimbus Roman No9 L"/>
              <a:ea typeface="Bitstream Vera Sans"/>
              <a:cs typeface="Times New Roman" panose="02020603050405020304" pitchFamily="18" charset="0"/>
            </a:endParaRPr>
          </a:p>
          <a:p>
            <a:pPr algn="just"/>
            <a:r>
              <a:rPr lang="en-US" sz="1200" b="1" dirty="0">
                <a:effectLst/>
                <a:latin typeface="Times New Roman" panose="02020603050405020304" pitchFamily="18" charset="0"/>
                <a:ea typeface="Bitstream Vera Sans"/>
                <a:cs typeface="Times New Roman" panose="02020603050405020304" pitchFamily="18" charset="0"/>
              </a:rPr>
              <a:t>Exit:</a:t>
            </a:r>
            <a:endParaRPr lang="en-IN" sz="1200" dirty="0">
              <a:effectLst/>
              <a:latin typeface="Nimbus Roman No9 L"/>
              <a:ea typeface="Bitstream Vera Sans"/>
              <a:cs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US" sz="1200" b="1" dirty="0">
                <a:effectLst/>
                <a:latin typeface="Times New Roman" panose="02020603050405020304" pitchFamily="18" charset="0"/>
                <a:ea typeface="Bitstream Vera Sans"/>
                <a:cs typeface="Times New Roman" panose="02020603050405020304" pitchFamily="18" charset="0"/>
              </a:rPr>
              <a:t>Step 11:</a:t>
            </a:r>
            <a:r>
              <a:rPr lang="en-US" sz="1200" dirty="0">
                <a:effectLst/>
                <a:latin typeface="Times New Roman" panose="02020603050405020304" pitchFamily="18" charset="0"/>
                <a:ea typeface="Bitstream Vera Sans"/>
                <a:cs typeface="Times New Roman" panose="02020603050405020304" pitchFamily="18" charset="0"/>
              </a:rPr>
              <a:t> End the program.</a:t>
            </a:r>
            <a:endParaRPr lang="en-IN" sz="1200" dirty="0">
              <a:effectLst/>
              <a:latin typeface="Nimbus Roman No9 L"/>
              <a:ea typeface="Bitstream Vera Sans"/>
              <a:cs typeface="Times New Roman" panose="02020603050405020304" pitchFamily="18" charset="0"/>
            </a:endParaRPr>
          </a:p>
        </p:txBody>
      </p:sp>
    </p:spTree>
    <p:extLst>
      <p:ext uri="{BB962C8B-B14F-4D97-AF65-F5344CB8AC3E}">
        <p14:creationId xmlns:p14="http://schemas.microsoft.com/office/powerpoint/2010/main" val="6594546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7DE54-86BE-2267-5571-BB3F39E3B283}"/>
              </a:ext>
            </a:extLst>
          </p:cNvPr>
          <p:cNvSpPr>
            <a:spLocks noGrp="1"/>
          </p:cNvSpPr>
          <p:nvPr>
            <p:ph type="title"/>
          </p:nvPr>
        </p:nvSpPr>
        <p:spPr>
          <a:xfrm>
            <a:off x="1765311" y="692646"/>
            <a:ext cx="2151864" cy="523876"/>
          </a:xfrm>
        </p:spPr>
        <p:txBody>
          <a:bodyPr>
            <a:normAutofit/>
          </a:bodyPr>
          <a:lstStyle/>
          <a:p>
            <a:pPr algn="l"/>
            <a:r>
              <a:rPr lang="en-IN" sz="2800" dirty="0">
                <a:latin typeface="Times New Roman" panose="02020603050405020304" pitchFamily="18" charset="0"/>
                <a:cs typeface="Times New Roman" panose="02020603050405020304" pitchFamily="18" charset="0"/>
              </a:rPr>
              <a:t>F</a:t>
            </a:r>
            <a:r>
              <a:rPr lang="en-IN" sz="2800" dirty="0">
                <a:solidFill>
                  <a:schemeClr val="tx1"/>
                </a:solidFill>
                <a:latin typeface="Times New Roman" panose="02020603050405020304" pitchFamily="18" charset="0"/>
                <a:cs typeface="Times New Roman" panose="02020603050405020304" pitchFamily="18" charset="0"/>
              </a:rPr>
              <a:t>lowcharts :</a:t>
            </a:r>
            <a:endParaRPr lang="en-IN" sz="2800" dirty="0">
              <a:latin typeface="Times New Roman" panose="02020603050405020304" pitchFamily="18" charset="0"/>
              <a:cs typeface="Times New Roman" panose="02020603050405020304" pitchFamily="18" charset="0"/>
            </a:endParaRPr>
          </a:p>
        </p:txBody>
      </p:sp>
      <p:sp>
        <p:nvSpPr>
          <p:cNvPr id="4" name="Flowchart: Alternate Process 2">
            <a:extLst>
              <a:ext uri="{FF2B5EF4-FFF2-40B4-BE49-F238E27FC236}">
                <a16:creationId xmlns:a16="http://schemas.microsoft.com/office/drawing/2014/main" id="{EFB97B26-B952-A31F-4DFB-CDA77752B920}"/>
              </a:ext>
            </a:extLst>
          </p:cNvPr>
          <p:cNvSpPr>
            <a:spLocks noChangeArrowheads="1"/>
          </p:cNvSpPr>
          <p:nvPr/>
        </p:nvSpPr>
        <p:spPr bwMode="auto">
          <a:xfrm>
            <a:off x="5500685" y="339805"/>
            <a:ext cx="1171576" cy="523876"/>
          </a:xfrm>
          <a:prstGeom prst="flowChartAlternateProcess">
            <a:avLst/>
          </a:prstGeom>
          <a:solidFill>
            <a:srgbClr val="FFFFFF"/>
          </a:solidFill>
          <a:ln w="31750" algn="ctr">
            <a:solidFill>
              <a:srgbClr val="4472C4"/>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IN" altLang="en-US" sz="1400" b="0" i="0" u="none" strike="noStrike" cap="none" normalizeH="0" baseline="0" dirty="0">
                <a:ln>
                  <a:noFill/>
                </a:ln>
                <a:solidFill>
                  <a:schemeClr val="tx1"/>
                </a:solidFill>
                <a:effectLst/>
                <a:latin typeface="Calibri" panose="020F0502020204030204" pitchFamily="34" charset="0"/>
              </a:rPr>
              <a:t>START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2051" name="Straight Arrow Connector 57">
            <a:extLst>
              <a:ext uri="{FF2B5EF4-FFF2-40B4-BE49-F238E27FC236}">
                <a16:creationId xmlns:a16="http://schemas.microsoft.com/office/drawing/2014/main" id="{FC5775CA-08E5-CB14-C366-C5AB30765784}"/>
              </a:ext>
            </a:extLst>
          </p:cNvPr>
          <p:cNvCxnSpPr>
            <a:cxnSpLocks noChangeShapeType="1"/>
          </p:cNvCxnSpPr>
          <p:nvPr/>
        </p:nvCxnSpPr>
        <p:spPr bwMode="auto">
          <a:xfrm rot="5400000">
            <a:off x="5770559" y="1179595"/>
            <a:ext cx="631825" cy="0"/>
          </a:xfrm>
          <a:prstGeom prst="straightConnector1">
            <a:avLst/>
          </a:prstGeom>
          <a:noFill/>
          <a:ln w="31750" algn="ctr">
            <a:solidFill>
              <a:srgbClr val="4472C4"/>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cxnSp>
      <p:sp>
        <p:nvSpPr>
          <p:cNvPr id="5" name="Rectangle 3">
            <a:extLst>
              <a:ext uri="{FF2B5EF4-FFF2-40B4-BE49-F238E27FC236}">
                <a16:creationId xmlns:a16="http://schemas.microsoft.com/office/drawing/2014/main" id="{0AA46BB5-3645-A11B-A907-0706E043FFE6}"/>
              </a:ext>
            </a:extLst>
          </p:cNvPr>
          <p:cNvSpPr>
            <a:spLocks noChangeArrowheads="1"/>
          </p:cNvSpPr>
          <p:nvPr/>
        </p:nvSpPr>
        <p:spPr bwMode="auto">
          <a:xfrm>
            <a:off x="5429245" y="1532613"/>
            <a:ext cx="1314451" cy="500063"/>
          </a:xfrm>
          <a:prstGeom prst="rect">
            <a:avLst/>
          </a:prstGeom>
          <a:solidFill>
            <a:srgbClr val="FFFFFF"/>
          </a:solidFill>
          <a:ln w="31750" algn="ctr">
            <a:solidFill>
              <a:srgbClr val="4472C4"/>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ctr" anchorCtr="0" compatLnSpc="1">
            <a:prstTxWarp prst="textNoShape">
              <a:avLst/>
            </a:prstTxWarp>
          </a:bodyPr>
          <a:lstStyle/>
          <a:p>
            <a:pPr algn="ctr" defTabSz="914400" eaLnBrk="0" fontAlgn="base" hangingPunct="0">
              <a:spcBef>
                <a:spcPct val="0"/>
              </a:spcBef>
              <a:spcAft>
                <a:spcPts val="800"/>
              </a:spcAft>
            </a:pPr>
            <a:r>
              <a:rPr lang="en-IN" dirty="0">
                <a:latin typeface="Calibri" panose="020F0502020204030204" pitchFamily="34" charset="0"/>
              </a:rPr>
              <a:t>ADMIN</a:t>
            </a:r>
            <a:endParaRPr lang="en-US" dirty="0"/>
          </a:p>
        </p:txBody>
      </p:sp>
      <p:sp>
        <p:nvSpPr>
          <p:cNvPr id="6" name="Flowchart: Decision 4">
            <a:extLst>
              <a:ext uri="{FF2B5EF4-FFF2-40B4-BE49-F238E27FC236}">
                <a16:creationId xmlns:a16="http://schemas.microsoft.com/office/drawing/2014/main" id="{129A38C2-B304-F41C-C1E4-6B4399F320F0}"/>
              </a:ext>
            </a:extLst>
          </p:cNvPr>
          <p:cNvSpPr>
            <a:spLocks noChangeArrowheads="1"/>
          </p:cNvSpPr>
          <p:nvPr/>
        </p:nvSpPr>
        <p:spPr bwMode="auto">
          <a:xfrm>
            <a:off x="5364954" y="2387937"/>
            <a:ext cx="1452563" cy="747713"/>
          </a:xfrm>
          <a:prstGeom prst="flowChartDecision">
            <a:avLst/>
          </a:prstGeom>
          <a:solidFill>
            <a:srgbClr val="FFFFFF"/>
          </a:solidFill>
          <a:ln w="31750" algn="ctr">
            <a:solidFill>
              <a:srgbClr val="4472C4"/>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IN" altLang="en-US" sz="1400" b="0" i="0" u="none" strike="noStrike" cap="none" normalizeH="0" baseline="0">
                <a:ln>
                  <a:noFill/>
                </a:ln>
                <a:solidFill>
                  <a:schemeClr val="tx1"/>
                </a:solidFill>
                <a:effectLst/>
                <a:latin typeface="Calibri" panose="020F0502020204030204" pitchFamily="34" charset="0"/>
              </a:rPr>
              <a:t>LOGIN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2055" name="Straight Arrow Connector 61">
            <a:extLst>
              <a:ext uri="{FF2B5EF4-FFF2-40B4-BE49-F238E27FC236}">
                <a16:creationId xmlns:a16="http://schemas.microsoft.com/office/drawing/2014/main" id="{113E22DB-CCE7-561F-9A07-FE5EA0515541}"/>
              </a:ext>
            </a:extLst>
          </p:cNvPr>
          <p:cNvCxnSpPr>
            <a:cxnSpLocks noChangeShapeType="1"/>
          </p:cNvCxnSpPr>
          <p:nvPr/>
        </p:nvCxnSpPr>
        <p:spPr bwMode="auto">
          <a:xfrm>
            <a:off x="6081703" y="2008074"/>
            <a:ext cx="4762" cy="381000"/>
          </a:xfrm>
          <a:prstGeom prst="straightConnector1">
            <a:avLst/>
          </a:prstGeom>
          <a:noFill/>
          <a:ln w="31750" algn="ctr">
            <a:solidFill>
              <a:srgbClr val="4472C4"/>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cxnSp>
      <p:sp>
        <p:nvSpPr>
          <p:cNvPr id="9" name="Straight Connector 63">
            <a:extLst>
              <a:ext uri="{FF2B5EF4-FFF2-40B4-BE49-F238E27FC236}">
                <a16:creationId xmlns:a16="http://schemas.microsoft.com/office/drawing/2014/main" id="{8B2BE0F0-6CB5-D128-F09C-1CA93A08B04D}"/>
              </a:ext>
            </a:extLst>
          </p:cNvPr>
          <p:cNvSpPr>
            <a:spLocks noChangeShapeType="1"/>
          </p:cNvSpPr>
          <p:nvPr/>
        </p:nvSpPr>
        <p:spPr bwMode="auto">
          <a:xfrm flipH="1">
            <a:off x="3885404" y="2768937"/>
            <a:ext cx="1479550" cy="14287"/>
          </a:xfrm>
          <a:prstGeom prst="line">
            <a:avLst/>
          </a:prstGeom>
          <a:noFill/>
          <a:ln w="31750" algn="ctr">
            <a:solidFill>
              <a:srgbClr val="4472C4"/>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
        <p:nvSpPr>
          <p:cNvPr id="10" name="Straight Connector 71">
            <a:extLst>
              <a:ext uri="{FF2B5EF4-FFF2-40B4-BE49-F238E27FC236}">
                <a16:creationId xmlns:a16="http://schemas.microsoft.com/office/drawing/2014/main" id="{63F72DC2-9D06-76CC-0F28-C3F9C6E81B22}"/>
              </a:ext>
            </a:extLst>
          </p:cNvPr>
          <p:cNvSpPr>
            <a:spLocks noChangeShapeType="1"/>
          </p:cNvSpPr>
          <p:nvPr/>
        </p:nvSpPr>
        <p:spPr bwMode="auto">
          <a:xfrm flipH="1">
            <a:off x="6817517" y="2751021"/>
            <a:ext cx="1466850" cy="4763"/>
          </a:xfrm>
          <a:prstGeom prst="line">
            <a:avLst/>
          </a:prstGeom>
          <a:noFill/>
          <a:ln w="31750" algn="ctr">
            <a:solidFill>
              <a:srgbClr val="4472C4"/>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cxnSp>
        <p:nvCxnSpPr>
          <p:cNvPr id="2058" name="Straight Arrow Connector 78">
            <a:extLst>
              <a:ext uri="{FF2B5EF4-FFF2-40B4-BE49-F238E27FC236}">
                <a16:creationId xmlns:a16="http://schemas.microsoft.com/office/drawing/2014/main" id="{7B3156BC-D198-593F-FFD6-DD0C1E5D55BF}"/>
              </a:ext>
            </a:extLst>
          </p:cNvPr>
          <p:cNvCxnSpPr>
            <a:cxnSpLocks noChangeShapeType="1"/>
          </p:cNvCxnSpPr>
          <p:nvPr/>
        </p:nvCxnSpPr>
        <p:spPr bwMode="auto">
          <a:xfrm>
            <a:off x="3894929" y="2774494"/>
            <a:ext cx="0" cy="722312"/>
          </a:xfrm>
          <a:prstGeom prst="straightConnector1">
            <a:avLst/>
          </a:prstGeom>
          <a:noFill/>
          <a:ln w="31750" algn="ctr">
            <a:solidFill>
              <a:srgbClr val="4472C4"/>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cxnSp>
      <p:cxnSp>
        <p:nvCxnSpPr>
          <p:cNvPr id="2059" name="Straight Arrow Connector 66">
            <a:extLst>
              <a:ext uri="{FF2B5EF4-FFF2-40B4-BE49-F238E27FC236}">
                <a16:creationId xmlns:a16="http://schemas.microsoft.com/office/drawing/2014/main" id="{76411344-3029-DF47-09DF-4CAA0CAB55AA}"/>
              </a:ext>
            </a:extLst>
          </p:cNvPr>
          <p:cNvCxnSpPr>
            <a:cxnSpLocks noChangeShapeType="1"/>
          </p:cNvCxnSpPr>
          <p:nvPr/>
        </p:nvCxnSpPr>
        <p:spPr bwMode="auto">
          <a:xfrm flipH="1">
            <a:off x="3894928" y="3939183"/>
            <a:ext cx="9525" cy="652462"/>
          </a:xfrm>
          <a:prstGeom prst="straightConnector1">
            <a:avLst/>
          </a:prstGeom>
          <a:noFill/>
          <a:ln w="31750" algn="ctr">
            <a:solidFill>
              <a:srgbClr val="4472C4"/>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cxnSp>
      <p:sp>
        <p:nvSpPr>
          <p:cNvPr id="17" name="Flowchart: Data 41">
            <a:extLst>
              <a:ext uri="{FF2B5EF4-FFF2-40B4-BE49-F238E27FC236}">
                <a16:creationId xmlns:a16="http://schemas.microsoft.com/office/drawing/2014/main" id="{E99BE766-ADFA-91D5-F402-9C1743424C15}"/>
              </a:ext>
            </a:extLst>
          </p:cNvPr>
          <p:cNvSpPr>
            <a:spLocks noChangeArrowheads="1"/>
          </p:cNvSpPr>
          <p:nvPr/>
        </p:nvSpPr>
        <p:spPr bwMode="auto">
          <a:xfrm>
            <a:off x="3156741" y="5439865"/>
            <a:ext cx="1395413" cy="463551"/>
          </a:xfrm>
          <a:prstGeom prst="flowChartInputOutput">
            <a:avLst/>
          </a:prstGeom>
          <a:solidFill>
            <a:srgbClr val="FFFFFF"/>
          </a:solidFill>
          <a:ln w="31750" algn="ctr">
            <a:solidFill>
              <a:srgbClr val="4472C4"/>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lang="en-IN" altLang="en-US" sz="1100" dirty="0">
                <a:latin typeface="Calibri" panose="020F0502020204030204" pitchFamily="34" charset="0"/>
              </a:rPr>
              <a:t>PASS        WORD</a:t>
            </a:r>
          </a:p>
        </p:txBody>
      </p:sp>
      <p:sp>
        <p:nvSpPr>
          <p:cNvPr id="20" name="Rectangle 5">
            <a:extLst>
              <a:ext uri="{FF2B5EF4-FFF2-40B4-BE49-F238E27FC236}">
                <a16:creationId xmlns:a16="http://schemas.microsoft.com/office/drawing/2014/main" id="{985E84B1-EF8B-69DD-E9FB-53BB85F8803B}"/>
              </a:ext>
            </a:extLst>
          </p:cNvPr>
          <p:cNvSpPr>
            <a:spLocks noChangeArrowheads="1"/>
          </p:cNvSpPr>
          <p:nvPr/>
        </p:nvSpPr>
        <p:spPr bwMode="auto">
          <a:xfrm>
            <a:off x="3237703" y="3487825"/>
            <a:ext cx="1314451" cy="500063"/>
          </a:xfrm>
          <a:prstGeom prst="rect">
            <a:avLst/>
          </a:prstGeom>
          <a:solidFill>
            <a:srgbClr val="FFFFFF"/>
          </a:solidFill>
          <a:ln w="31750" algn="ctr">
            <a:solidFill>
              <a:srgbClr val="4472C4"/>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IN" altLang="en-US" sz="1400" b="0" i="0" u="none" strike="noStrike" cap="none" normalizeH="0" baseline="0" dirty="0">
                <a:ln>
                  <a:noFill/>
                </a:ln>
                <a:solidFill>
                  <a:schemeClr val="tx1"/>
                </a:solidFill>
                <a:effectLst/>
                <a:latin typeface="Calibri" panose="020F0502020204030204" pitchFamily="34" charset="0"/>
              </a:rPr>
              <a:t>REGISTER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Flowchart: Data 42">
            <a:extLst>
              <a:ext uri="{FF2B5EF4-FFF2-40B4-BE49-F238E27FC236}">
                <a16:creationId xmlns:a16="http://schemas.microsoft.com/office/drawing/2014/main" id="{3844C0FD-2D20-A596-9F93-8FA4721E3790}"/>
              </a:ext>
            </a:extLst>
          </p:cNvPr>
          <p:cNvSpPr>
            <a:spLocks noChangeArrowheads="1"/>
          </p:cNvSpPr>
          <p:nvPr/>
        </p:nvSpPr>
        <p:spPr bwMode="auto">
          <a:xfrm>
            <a:off x="2923379" y="6284416"/>
            <a:ext cx="1628775" cy="466725"/>
          </a:xfrm>
          <a:prstGeom prst="flowChartInputOutput">
            <a:avLst/>
          </a:prstGeom>
          <a:solidFill>
            <a:srgbClr val="FFFFFF"/>
          </a:solidFill>
          <a:ln w="31750" algn="ctr">
            <a:solidFill>
              <a:srgbClr val="4472C4"/>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IN" altLang="en-US" sz="1100" b="0" i="0" u="none" strike="noStrike" cap="none" normalizeH="0" baseline="0" dirty="0">
                <a:ln>
                  <a:noFill/>
                </a:ln>
                <a:solidFill>
                  <a:schemeClr val="tx1"/>
                </a:solidFill>
                <a:effectLst/>
                <a:latin typeface="Calibri" panose="020F0502020204030204" pitchFamily="34" charset="0"/>
              </a:rPr>
              <a:t>PRESS    LOGIN </a:t>
            </a:r>
            <a:r>
              <a:rPr kumimoji="0" lang="en-IN" altLang="en-US" sz="1100" b="0" i="0" u="none" strike="noStrike" cap="none" normalizeH="0" baseline="0" dirty="0" err="1">
                <a:ln>
                  <a:noFill/>
                </a:ln>
                <a:solidFill>
                  <a:schemeClr val="tx1"/>
                </a:solidFill>
                <a:effectLst/>
                <a:latin typeface="Calibri" panose="020F0502020204030204" pitchFamily="34" charset="0"/>
              </a:rPr>
              <a:t>btn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Flowchart: Data 22">
            <a:extLst>
              <a:ext uri="{FF2B5EF4-FFF2-40B4-BE49-F238E27FC236}">
                <a16:creationId xmlns:a16="http://schemas.microsoft.com/office/drawing/2014/main" id="{9326BB97-0031-D645-EC28-86D62FB9E79D}"/>
              </a:ext>
            </a:extLst>
          </p:cNvPr>
          <p:cNvSpPr>
            <a:spLocks noChangeArrowheads="1"/>
          </p:cNvSpPr>
          <p:nvPr/>
        </p:nvSpPr>
        <p:spPr bwMode="auto">
          <a:xfrm>
            <a:off x="3154360" y="4596902"/>
            <a:ext cx="1462088" cy="461963"/>
          </a:xfrm>
          <a:prstGeom prst="flowChartInputOutput">
            <a:avLst/>
          </a:prstGeom>
          <a:solidFill>
            <a:srgbClr val="FFFFFF"/>
          </a:solidFill>
          <a:ln w="31750" algn="ctr">
            <a:solidFill>
              <a:srgbClr val="4472C4"/>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IN" altLang="en-US" sz="1100" b="0" i="0" u="none" strike="noStrike" cap="none" normalizeH="0" baseline="0" dirty="0">
                <a:ln>
                  <a:noFill/>
                </a:ln>
                <a:solidFill>
                  <a:schemeClr val="tx1"/>
                </a:solidFill>
                <a:effectLst/>
                <a:latin typeface="Calibri" panose="020F0502020204030204" pitchFamily="34" charset="0"/>
              </a:rPr>
              <a:t>ENTER E-MAIL</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31" name="Straight Arrow Connector 61">
            <a:extLst>
              <a:ext uri="{FF2B5EF4-FFF2-40B4-BE49-F238E27FC236}">
                <a16:creationId xmlns:a16="http://schemas.microsoft.com/office/drawing/2014/main" id="{C40C0A01-6232-9F1A-FC45-A5F4C5127EDD}"/>
              </a:ext>
            </a:extLst>
          </p:cNvPr>
          <p:cNvCxnSpPr>
            <a:cxnSpLocks noChangeShapeType="1"/>
          </p:cNvCxnSpPr>
          <p:nvPr/>
        </p:nvCxnSpPr>
        <p:spPr bwMode="auto">
          <a:xfrm>
            <a:off x="3880642" y="5058865"/>
            <a:ext cx="4762" cy="381000"/>
          </a:xfrm>
          <a:prstGeom prst="straightConnector1">
            <a:avLst/>
          </a:prstGeom>
          <a:noFill/>
          <a:ln w="31750" algn="ctr">
            <a:solidFill>
              <a:srgbClr val="4472C4"/>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cxnSp>
      <p:cxnSp>
        <p:nvCxnSpPr>
          <p:cNvPr id="32" name="Straight Arrow Connector 61">
            <a:extLst>
              <a:ext uri="{FF2B5EF4-FFF2-40B4-BE49-F238E27FC236}">
                <a16:creationId xmlns:a16="http://schemas.microsoft.com/office/drawing/2014/main" id="{2E412129-F872-6C43-7FE7-061BABCFE290}"/>
              </a:ext>
            </a:extLst>
          </p:cNvPr>
          <p:cNvCxnSpPr>
            <a:cxnSpLocks noChangeShapeType="1"/>
          </p:cNvCxnSpPr>
          <p:nvPr/>
        </p:nvCxnSpPr>
        <p:spPr bwMode="auto">
          <a:xfrm>
            <a:off x="3849685" y="5906450"/>
            <a:ext cx="4762" cy="381000"/>
          </a:xfrm>
          <a:prstGeom prst="straightConnector1">
            <a:avLst/>
          </a:prstGeom>
          <a:noFill/>
          <a:ln w="31750" algn="ctr">
            <a:solidFill>
              <a:srgbClr val="4472C4"/>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cxnSp>
      <p:sp>
        <p:nvSpPr>
          <p:cNvPr id="3" name="Rectangle 6">
            <a:extLst>
              <a:ext uri="{FF2B5EF4-FFF2-40B4-BE49-F238E27FC236}">
                <a16:creationId xmlns:a16="http://schemas.microsoft.com/office/drawing/2014/main" id="{B6F46E32-FB4C-133C-439D-EA1CAAE33D08}"/>
              </a:ext>
            </a:extLst>
          </p:cNvPr>
          <p:cNvSpPr>
            <a:spLocks noChangeArrowheads="1"/>
          </p:cNvSpPr>
          <p:nvPr/>
        </p:nvSpPr>
        <p:spPr bwMode="auto">
          <a:xfrm>
            <a:off x="7651417" y="3523979"/>
            <a:ext cx="1314451" cy="500063"/>
          </a:xfrm>
          <a:prstGeom prst="rect">
            <a:avLst/>
          </a:prstGeom>
          <a:solidFill>
            <a:srgbClr val="FFFFFF"/>
          </a:solidFill>
          <a:ln w="31750" algn="ctr">
            <a:solidFill>
              <a:srgbClr val="4472C4"/>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ctr" anchorCtr="0" compatLnSpc="1">
            <a:prstTxWarp prst="textNoShape">
              <a:avLst/>
            </a:prstTxWarp>
          </a:bodyPr>
          <a:lstStyle/>
          <a:p>
            <a:pPr algn="ctr"/>
            <a:r>
              <a:rPr lang="en-IN" sz="1050" dirty="0">
                <a:effectLst/>
                <a:latin typeface="Nimbus Roman No9 L"/>
                <a:ea typeface="Bitstream Vera Sans"/>
                <a:cs typeface="Times New Roman" panose="02020603050405020304" pitchFamily="18" charset="0"/>
              </a:rPr>
              <a:t>SHOW </a:t>
            </a:r>
          </a:p>
          <a:p>
            <a:pPr algn="ctr"/>
            <a:r>
              <a:rPr lang="en-IN" sz="1050" dirty="0">
                <a:effectLst/>
                <a:latin typeface="Nimbus Roman No9 L"/>
                <a:ea typeface="Bitstream Vera Sans"/>
                <a:cs typeface="Times New Roman" panose="02020603050405020304" pitchFamily="18" charset="0"/>
              </a:rPr>
              <a:t>RMS DASHBOARD</a:t>
            </a:r>
          </a:p>
          <a:p>
            <a:endParaRPr kumimoji="0" lang="en-US" altLang="en-US" sz="500" b="0" i="0" u="none" strike="noStrike" cap="none" normalizeH="0" baseline="0" dirty="0">
              <a:ln>
                <a:noFill/>
              </a:ln>
              <a:solidFill>
                <a:schemeClr val="tx1"/>
              </a:solidFill>
              <a:effectLst/>
              <a:latin typeface="Arial" panose="020B0604020202020204" pitchFamily="34" charset="0"/>
            </a:endParaRPr>
          </a:p>
        </p:txBody>
      </p:sp>
      <p:cxnSp>
        <p:nvCxnSpPr>
          <p:cNvPr id="1027" name="Straight Arrow Connector 70">
            <a:extLst>
              <a:ext uri="{FF2B5EF4-FFF2-40B4-BE49-F238E27FC236}">
                <a16:creationId xmlns:a16="http://schemas.microsoft.com/office/drawing/2014/main" id="{635ED01B-B9C5-3456-AAE0-069818120014}"/>
              </a:ext>
            </a:extLst>
          </p:cNvPr>
          <p:cNvCxnSpPr>
            <a:cxnSpLocks noChangeShapeType="1"/>
          </p:cNvCxnSpPr>
          <p:nvPr/>
        </p:nvCxnSpPr>
        <p:spPr bwMode="auto">
          <a:xfrm>
            <a:off x="8284367" y="2751021"/>
            <a:ext cx="0" cy="781050"/>
          </a:xfrm>
          <a:prstGeom prst="straightConnector1">
            <a:avLst/>
          </a:prstGeom>
          <a:noFill/>
          <a:ln w="31750" algn="ctr">
            <a:solidFill>
              <a:srgbClr val="4472C4"/>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cxnSp>
      <p:sp>
        <p:nvSpPr>
          <p:cNvPr id="12" name="Flowchart: Data 47">
            <a:extLst>
              <a:ext uri="{FF2B5EF4-FFF2-40B4-BE49-F238E27FC236}">
                <a16:creationId xmlns:a16="http://schemas.microsoft.com/office/drawing/2014/main" id="{A32BE91C-2489-5D8D-F50D-A007FF7F3E81}"/>
              </a:ext>
            </a:extLst>
          </p:cNvPr>
          <p:cNvSpPr>
            <a:spLocks noChangeArrowheads="1"/>
          </p:cNvSpPr>
          <p:nvPr/>
        </p:nvSpPr>
        <p:spPr bwMode="auto">
          <a:xfrm>
            <a:off x="7543796" y="5519920"/>
            <a:ext cx="1471613" cy="414338"/>
          </a:xfrm>
          <a:prstGeom prst="flowChartInputOutput">
            <a:avLst/>
          </a:prstGeom>
          <a:solidFill>
            <a:srgbClr val="FFFFFF"/>
          </a:solidFill>
          <a:ln w="31750" algn="ctr">
            <a:solidFill>
              <a:srgbClr val="4472C4"/>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ctr" anchorCtr="0" compatLnSpc="1">
            <a:prstTxWarp prst="textNoShape">
              <a:avLst/>
            </a:prstTxWarp>
          </a:bodyPr>
          <a:lstStyle/>
          <a:p>
            <a:r>
              <a:rPr lang="en-IN" sz="1100" dirty="0">
                <a:latin typeface="Nimbus Roman No9 L"/>
              </a:rPr>
              <a:t>VIEW</a:t>
            </a:r>
            <a:endParaRPr lang="en-US" sz="1100" dirty="0">
              <a:latin typeface="Nimbus Roman No9 L"/>
            </a:endParaRPr>
          </a:p>
          <a:p>
            <a:r>
              <a:rPr lang="en-IN" sz="1100" dirty="0">
                <a:latin typeface="Nimbus Roman No9 L"/>
              </a:rPr>
              <a:t>RECORDS</a:t>
            </a:r>
            <a:endParaRPr lang="en-US" sz="1100" dirty="0">
              <a:latin typeface="Nimbus Roman No9 L"/>
            </a:endParaRPr>
          </a:p>
        </p:txBody>
      </p:sp>
      <p:sp>
        <p:nvSpPr>
          <p:cNvPr id="13" name="Flowchart: Alternate Process 54">
            <a:extLst>
              <a:ext uri="{FF2B5EF4-FFF2-40B4-BE49-F238E27FC236}">
                <a16:creationId xmlns:a16="http://schemas.microsoft.com/office/drawing/2014/main" id="{9589C9A5-EA7E-B86C-2F7D-7DBBE4A8BF2D}"/>
              </a:ext>
            </a:extLst>
          </p:cNvPr>
          <p:cNvSpPr>
            <a:spLocks noChangeArrowheads="1"/>
          </p:cNvSpPr>
          <p:nvPr/>
        </p:nvSpPr>
        <p:spPr bwMode="auto">
          <a:xfrm>
            <a:off x="7713666" y="6284416"/>
            <a:ext cx="1171576" cy="523876"/>
          </a:xfrm>
          <a:prstGeom prst="flowChartAlternateProcess">
            <a:avLst/>
          </a:prstGeom>
          <a:solidFill>
            <a:srgbClr val="FFFFFF"/>
          </a:solidFill>
          <a:ln w="31750" algn="ctr">
            <a:solidFill>
              <a:srgbClr val="4472C4"/>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IN" altLang="en-US" sz="1400" b="0" i="0" u="none" strike="noStrike" cap="none" normalizeH="0" baseline="0">
                <a:ln>
                  <a:noFill/>
                </a:ln>
                <a:solidFill>
                  <a:schemeClr val="tx1"/>
                </a:solidFill>
                <a:effectLst/>
                <a:latin typeface="Calibri" panose="020F0502020204030204" pitchFamily="34" charset="0"/>
              </a:rPr>
              <a:t>STOP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Flowchart: Data 45">
            <a:extLst>
              <a:ext uri="{FF2B5EF4-FFF2-40B4-BE49-F238E27FC236}">
                <a16:creationId xmlns:a16="http://schemas.microsoft.com/office/drawing/2014/main" id="{C655ABF5-41CC-11C0-7F18-C8C951C8FA7D}"/>
              </a:ext>
            </a:extLst>
          </p:cNvPr>
          <p:cNvSpPr>
            <a:spLocks noChangeArrowheads="1"/>
          </p:cNvSpPr>
          <p:nvPr/>
        </p:nvSpPr>
        <p:spPr bwMode="auto">
          <a:xfrm>
            <a:off x="7581897" y="4426131"/>
            <a:ext cx="1395413" cy="461963"/>
          </a:xfrm>
          <a:prstGeom prst="flowChartInputOutput">
            <a:avLst/>
          </a:prstGeom>
          <a:solidFill>
            <a:srgbClr val="FFFFFF"/>
          </a:solidFill>
          <a:ln w="31750" algn="ctr">
            <a:solidFill>
              <a:srgbClr val="4472C4"/>
            </a:solidFill>
            <a:miter lim="800000"/>
            <a:headEnd/>
            <a:tailEnd/>
          </a:ln>
          <a:effectLst/>
          <a:extLs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ctr" anchorCtr="0" compatLnSpc="1">
            <a:prstTxWarp prst="textNoShape">
              <a:avLst/>
            </a:prstTxWarp>
          </a:bodyPr>
          <a:lstStyle/>
          <a:p>
            <a:pPr algn="ctr"/>
            <a:r>
              <a:rPr lang="en-IN" sz="900" dirty="0">
                <a:effectLst/>
                <a:latin typeface="Nimbus Roman No9 L"/>
                <a:ea typeface="Bitstream Vera Sans"/>
                <a:cs typeface="Times New Roman" panose="02020603050405020304" pitchFamily="18" charset="0"/>
              </a:rPr>
              <a:t>MANAGE</a:t>
            </a:r>
          </a:p>
          <a:p>
            <a:pPr algn="ctr"/>
            <a:r>
              <a:rPr lang="en-IN" sz="900" dirty="0">
                <a:effectLst/>
                <a:latin typeface="Nimbus Roman No9 L"/>
                <a:ea typeface="Bitstream Vera Sans"/>
                <a:cs typeface="Times New Roman" panose="02020603050405020304" pitchFamily="18" charset="0"/>
              </a:rPr>
              <a:t>COURSE &amp; RESULTS </a:t>
            </a:r>
          </a:p>
          <a:p>
            <a:endParaRPr kumimoji="0" lang="en-US" altLang="en-US" sz="100" b="0" i="0" u="none" strike="noStrike" cap="none" normalizeH="0" baseline="0" dirty="0">
              <a:ln>
                <a:noFill/>
              </a:ln>
              <a:solidFill>
                <a:schemeClr val="tx1"/>
              </a:solidFill>
              <a:effectLst/>
              <a:latin typeface="Arial" panose="020B0604020202020204" pitchFamily="34" charset="0"/>
            </a:endParaRPr>
          </a:p>
        </p:txBody>
      </p:sp>
      <p:cxnSp>
        <p:nvCxnSpPr>
          <p:cNvPr id="19" name="Straight Arrow Connector 61">
            <a:extLst>
              <a:ext uri="{FF2B5EF4-FFF2-40B4-BE49-F238E27FC236}">
                <a16:creationId xmlns:a16="http://schemas.microsoft.com/office/drawing/2014/main" id="{A8C418C3-2EA6-CEDF-4AC1-6288E0685127}"/>
              </a:ext>
            </a:extLst>
          </p:cNvPr>
          <p:cNvCxnSpPr>
            <a:cxnSpLocks noChangeShapeType="1"/>
          </p:cNvCxnSpPr>
          <p:nvPr/>
        </p:nvCxnSpPr>
        <p:spPr bwMode="auto">
          <a:xfrm>
            <a:off x="8299454" y="5918837"/>
            <a:ext cx="4762" cy="381000"/>
          </a:xfrm>
          <a:prstGeom prst="straightConnector1">
            <a:avLst/>
          </a:prstGeom>
          <a:noFill/>
          <a:ln w="31750" algn="ctr">
            <a:solidFill>
              <a:srgbClr val="4472C4"/>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cxnSp>
      <p:cxnSp>
        <p:nvCxnSpPr>
          <p:cNvPr id="21" name="Straight Arrow Connector 61">
            <a:extLst>
              <a:ext uri="{FF2B5EF4-FFF2-40B4-BE49-F238E27FC236}">
                <a16:creationId xmlns:a16="http://schemas.microsoft.com/office/drawing/2014/main" id="{1A8FEC60-2783-0E1F-3E81-0FDF4B70F1D0}"/>
              </a:ext>
            </a:extLst>
          </p:cNvPr>
          <p:cNvCxnSpPr>
            <a:cxnSpLocks noChangeShapeType="1"/>
          </p:cNvCxnSpPr>
          <p:nvPr/>
        </p:nvCxnSpPr>
        <p:spPr bwMode="auto">
          <a:xfrm>
            <a:off x="8279604" y="4032727"/>
            <a:ext cx="4762" cy="381000"/>
          </a:xfrm>
          <a:prstGeom prst="straightConnector1">
            <a:avLst/>
          </a:prstGeom>
          <a:noFill/>
          <a:ln w="31750" algn="ctr">
            <a:solidFill>
              <a:srgbClr val="4472C4"/>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cxnSp>
      <p:cxnSp>
        <p:nvCxnSpPr>
          <p:cNvPr id="22" name="Straight Arrow Connector 57">
            <a:extLst>
              <a:ext uri="{FF2B5EF4-FFF2-40B4-BE49-F238E27FC236}">
                <a16:creationId xmlns:a16="http://schemas.microsoft.com/office/drawing/2014/main" id="{BAFE362A-12AE-BD40-7608-87D224F7AC2D}"/>
              </a:ext>
            </a:extLst>
          </p:cNvPr>
          <p:cNvCxnSpPr>
            <a:cxnSpLocks noChangeShapeType="1"/>
          </p:cNvCxnSpPr>
          <p:nvPr/>
        </p:nvCxnSpPr>
        <p:spPr bwMode="auto">
          <a:xfrm rot="5400000">
            <a:off x="7950199" y="5204007"/>
            <a:ext cx="631825" cy="0"/>
          </a:xfrm>
          <a:prstGeom prst="straightConnector1">
            <a:avLst/>
          </a:prstGeom>
          <a:noFill/>
          <a:ln w="31750" algn="ctr">
            <a:solidFill>
              <a:srgbClr val="4472C4"/>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cxnSp>
      <p:sp>
        <p:nvSpPr>
          <p:cNvPr id="23" name="Straight Connector 74">
            <a:extLst>
              <a:ext uri="{FF2B5EF4-FFF2-40B4-BE49-F238E27FC236}">
                <a16:creationId xmlns:a16="http://schemas.microsoft.com/office/drawing/2014/main" id="{FC012277-C533-F1DF-A3F1-37BD43E7C44C}"/>
              </a:ext>
            </a:extLst>
          </p:cNvPr>
          <p:cNvSpPr>
            <a:spLocks noChangeShapeType="1"/>
          </p:cNvSpPr>
          <p:nvPr/>
        </p:nvSpPr>
        <p:spPr bwMode="auto">
          <a:xfrm flipV="1">
            <a:off x="4332288" y="6575980"/>
            <a:ext cx="1651000" cy="3175"/>
          </a:xfrm>
          <a:prstGeom prst="line">
            <a:avLst/>
          </a:prstGeom>
          <a:noFill/>
          <a:ln w="31750" algn="ctr">
            <a:solidFill>
              <a:srgbClr val="4472C4"/>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
        <p:nvSpPr>
          <p:cNvPr id="24" name="Straight Connector 75">
            <a:extLst>
              <a:ext uri="{FF2B5EF4-FFF2-40B4-BE49-F238E27FC236}">
                <a16:creationId xmlns:a16="http://schemas.microsoft.com/office/drawing/2014/main" id="{97616FB0-9666-221F-066F-4F71B1295B43}"/>
              </a:ext>
            </a:extLst>
          </p:cNvPr>
          <p:cNvSpPr>
            <a:spLocks noChangeShapeType="1"/>
          </p:cNvSpPr>
          <p:nvPr/>
        </p:nvSpPr>
        <p:spPr bwMode="auto">
          <a:xfrm flipV="1">
            <a:off x="5986855" y="3765550"/>
            <a:ext cx="4372" cy="2823550"/>
          </a:xfrm>
          <a:prstGeom prst="line">
            <a:avLst/>
          </a:prstGeom>
          <a:noFill/>
          <a:ln w="31750" algn="ctr">
            <a:solidFill>
              <a:srgbClr val="4472C4"/>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cxnSp>
        <p:nvCxnSpPr>
          <p:cNvPr id="1034" name="Straight Arrow Connector 76">
            <a:extLst>
              <a:ext uri="{FF2B5EF4-FFF2-40B4-BE49-F238E27FC236}">
                <a16:creationId xmlns:a16="http://schemas.microsoft.com/office/drawing/2014/main" id="{EC84809F-6726-A070-3670-BAA95FE8302D}"/>
              </a:ext>
            </a:extLst>
          </p:cNvPr>
          <p:cNvCxnSpPr>
            <a:cxnSpLocks noChangeShapeType="1"/>
          </p:cNvCxnSpPr>
          <p:nvPr/>
        </p:nvCxnSpPr>
        <p:spPr bwMode="auto">
          <a:xfrm>
            <a:off x="5983288" y="3782779"/>
            <a:ext cx="1538288" cy="12700"/>
          </a:xfrm>
          <a:prstGeom prst="straightConnector1">
            <a:avLst/>
          </a:prstGeom>
          <a:noFill/>
          <a:ln w="31750" algn="ctr">
            <a:solidFill>
              <a:srgbClr val="4472C4"/>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cxnSp>
      <p:sp>
        <p:nvSpPr>
          <p:cNvPr id="27" name="TextBox 26">
            <a:extLst>
              <a:ext uri="{FF2B5EF4-FFF2-40B4-BE49-F238E27FC236}">
                <a16:creationId xmlns:a16="http://schemas.microsoft.com/office/drawing/2014/main" id="{4D49F709-0C98-A4F8-FFA5-5934DA726AB6}"/>
              </a:ext>
            </a:extLst>
          </p:cNvPr>
          <p:cNvSpPr txBox="1"/>
          <p:nvPr/>
        </p:nvSpPr>
        <p:spPr>
          <a:xfrm>
            <a:off x="6548839" y="3487825"/>
            <a:ext cx="981465" cy="369332"/>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Yes</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3A7CDAC-3ED8-03E2-7203-E4B87887E116}"/>
              </a:ext>
            </a:extLst>
          </p:cNvPr>
          <p:cNvSpPr txBox="1"/>
          <p:nvPr/>
        </p:nvSpPr>
        <p:spPr>
          <a:xfrm>
            <a:off x="4376968" y="2477114"/>
            <a:ext cx="3484097" cy="338554"/>
          </a:xfrm>
          <a:prstGeom prst="rect">
            <a:avLst/>
          </a:prstGeom>
          <a:noFill/>
        </p:spPr>
        <p:txBody>
          <a:bodyPr wrap="square" rtlCol="0">
            <a:spAutoFit/>
          </a:bodyPr>
          <a:lstStyle/>
          <a:p>
            <a:r>
              <a:rPr lang="en-GB" sz="1600" dirty="0">
                <a:latin typeface="Times New Roman" panose="02020603050405020304" pitchFamily="18" charset="0"/>
                <a:cs typeface="Times New Roman" panose="02020603050405020304" pitchFamily="18" charset="0"/>
              </a:rPr>
              <a:t>NO						YES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1158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BE7D6-2871-9006-A5AA-597E56A31D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032F13-3BF1-2B1F-FA22-C718D25C73C0}"/>
              </a:ext>
            </a:extLst>
          </p:cNvPr>
          <p:cNvSpPr>
            <a:spLocks noGrp="1"/>
          </p:cNvSpPr>
          <p:nvPr>
            <p:ph type="title"/>
          </p:nvPr>
        </p:nvSpPr>
        <p:spPr>
          <a:xfrm>
            <a:off x="1765311" y="692646"/>
            <a:ext cx="2551050" cy="523876"/>
          </a:xfrm>
        </p:spPr>
        <p:txBody>
          <a:bodyPr>
            <a:noAutofit/>
          </a:bodyPr>
          <a:lstStyle/>
          <a:p>
            <a:pPr algn="l"/>
            <a:r>
              <a:rPr lang="en-IN" sz="2800" dirty="0">
                <a:solidFill>
                  <a:schemeClr val="tx1"/>
                </a:solidFill>
                <a:latin typeface="Times New Roman" panose="02020603050405020304" pitchFamily="18" charset="0"/>
                <a:cs typeface="Times New Roman" panose="02020603050405020304" pitchFamily="18" charset="0"/>
              </a:rPr>
              <a:t>UML Diagrams:</a:t>
            </a:r>
            <a:endParaRPr lang="en-IN" sz="28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4CAA626-3FCD-6E59-2B3A-DB9394CFF10B}"/>
              </a:ext>
            </a:extLst>
          </p:cNvPr>
          <p:cNvSpPr txBox="1"/>
          <p:nvPr/>
        </p:nvSpPr>
        <p:spPr>
          <a:xfrm>
            <a:off x="3048000" y="1216522"/>
            <a:ext cx="6096000" cy="369332"/>
          </a:xfrm>
          <a:prstGeom prst="rect">
            <a:avLst/>
          </a:prstGeom>
          <a:noFill/>
        </p:spPr>
        <p:txBody>
          <a:bodyPr wrap="square">
            <a:spAutoFit/>
          </a:bodyPr>
          <a:lstStyle/>
          <a:p>
            <a:pPr algn="ctr"/>
            <a:r>
              <a:rPr lang="en-US" sz="1800" b="1" dirty="0">
                <a:effectLst/>
                <a:latin typeface="Times New Roman" panose="02020603050405020304" pitchFamily="18" charset="0"/>
                <a:ea typeface="Bitstream Vera Sans"/>
                <a:cs typeface="Times New Roman" panose="02020603050405020304" pitchFamily="18" charset="0"/>
              </a:rPr>
              <a:t>Class diagram :</a:t>
            </a:r>
            <a:endParaRPr lang="en-IN" sz="1400" dirty="0">
              <a:effectLst/>
              <a:latin typeface="Nimbus Roman No9 L"/>
              <a:ea typeface="Bitstream Vera Sans"/>
              <a:cs typeface="Times New Roman" panose="02020603050405020304" pitchFamily="18" charset="0"/>
            </a:endParaRPr>
          </a:p>
        </p:txBody>
      </p:sp>
      <p:pic>
        <p:nvPicPr>
          <p:cNvPr id="10242" name="Picture 2">
            <a:extLst>
              <a:ext uri="{FF2B5EF4-FFF2-40B4-BE49-F238E27FC236}">
                <a16:creationId xmlns:a16="http://schemas.microsoft.com/office/drawing/2014/main" id="{6F546260-FE5C-A37E-7691-DFC901DC6E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9675" y="1902542"/>
            <a:ext cx="3592650" cy="426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7180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25E2D-4CAD-6CD9-11F0-1DF51C1D2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5A7839-AD0E-A77A-7D34-857A8C3FF90A}"/>
              </a:ext>
            </a:extLst>
          </p:cNvPr>
          <p:cNvSpPr>
            <a:spLocks noGrp="1"/>
          </p:cNvSpPr>
          <p:nvPr>
            <p:ph type="title"/>
          </p:nvPr>
        </p:nvSpPr>
        <p:spPr>
          <a:xfrm>
            <a:off x="1765311" y="692646"/>
            <a:ext cx="2551050" cy="523876"/>
          </a:xfrm>
        </p:spPr>
        <p:txBody>
          <a:bodyPr>
            <a:noAutofit/>
          </a:bodyPr>
          <a:lstStyle/>
          <a:p>
            <a:pPr algn="l"/>
            <a:r>
              <a:rPr lang="en-IN" sz="2800" dirty="0">
                <a:solidFill>
                  <a:schemeClr val="tx1"/>
                </a:solidFill>
                <a:latin typeface="Times New Roman" panose="02020603050405020304" pitchFamily="18" charset="0"/>
                <a:cs typeface="Times New Roman" panose="02020603050405020304" pitchFamily="18" charset="0"/>
              </a:rPr>
              <a:t>UML Diagrams:</a:t>
            </a:r>
            <a:endParaRPr lang="en-IN" sz="28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C3B7C40-48C8-B92B-F807-9366BE3F19AF}"/>
              </a:ext>
            </a:extLst>
          </p:cNvPr>
          <p:cNvSpPr txBox="1"/>
          <p:nvPr/>
        </p:nvSpPr>
        <p:spPr>
          <a:xfrm>
            <a:off x="3048000" y="1216522"/>
            <a:ext cx="6096000" cy="369332"/>
          </a:xfrm>
          <a:prstGeom prst="rect">
            <a:avLst/>
          </a:prstGeom>
          <a:noFill/>
        </p:spPr>
        <p:txBody>
          <a:bodyPr wrap="square">
            <a:spAutoFit/>
          </a:bodyPr>
          <a:lstStyle/>
          <a:p>
            <a:pPr algn="ctr"/>
            <a:r>
              <a:rPr lang="en-IN" sz="1800" b="1" dirty="0">
                <a:effectLst/>
                <a:latin typeface="Times New Roman" panose="02020603050405020304" pitchFamily="18" charset="0"/>
                <a:ea typeface="Times New Roman" panose="02020603050405020304" pitchFamily="18" charset="0"/>
              </a:rPr>
              <a:t>Use Case Diagram </a:t>
            </a:r>
            <a:r>
              <a:rPr lang="en-US" sz="1800" b="1" dirty="0">
                <a:effectLst/>
                <a:latin typeface="Times New Roman" panose="02020603050405020304" pitchFamily="18" charset="0"/>
                <a:ea typeface="Bitstream Vera Sans"/>
                <a:cs typeface="Times New Roman" panose="02020603050405020304" pitchFamily="18" charset="0"/>
              </a:rPr>
              <a:t>:</a:t>
            </a:r>
            <a:endParaRPr lang="en-IN" sz="1400" dirty="0">
              <a:effectLst/>
              <a:latin typeface="Nimbus Roman No9 L"/>
              <a:ea typeface="Bitstream Vera Sans"/>
              <a:cs typeface="Times New Roman" panose="02020603050405020304" pitchFamily="18" charset="0"/>
            </a:endParaRPr>
          </a:p>
        </p:txBody>
      </p:sp>
      <p:pic>
        <p:nvPicPr>
          <p:cNvPr id="11266" name="Picture 2">
            <a:extLst>
              <a:ext uri="{FF2B5EF4-FFF2-40B4-BE49-F238E27FC236}">
                <a16:creationId xmlns:a16="http://schemas.microsoft.com/office/drawing/2014/main" id="{68462585-1D31-1510-9D71-0CF69B6EE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9116" y="1826465"/>
            <a:ext cx="5973763" cy="141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E0B311F5-FD9C-EEA3-2EC6-F0EE897C621C}"/>
              </a:ext>
            </a:extLst>
          </p:cNvPr>
          <p:cNvSpPr txBox="1"/>
          <p:nvPr/>
        </p:nvSpPr>
        <p:spPr>
          <a:xfrm>
            <a:off x="2986879" y="3745995"/>
            <a:ext cx="6096000" cy="369332"/>
          </a:xfrm>
          <a:prstGeom prst="rect">
            <a:avLst/>
          </a:prstGeom>
          <a:noFill/>
        </p:spPr>
        <p:txBody>
          <a:bodyPr wrap="square">
            <a:spAutoFit/>
          </a:bodyPr>
          <a:lstStyle/>
          <a:p>
            <a:pPr algn="ctr"/>
            <a:r>
              <a:rPr lang="en-IN" sz="1800" b="1" dirty="0">
                <a:effectLst/>
                <a:latin typeface="Times New Roman" panose="02020603050405020304" pitchFamily="18" charset="0"/>
                <a:ea typeface="Times New Roman" panose="02020603050405020304" pitchFamily="18" charset="0"/>
              </a:rPr>
              <a:t>Activity Diagram </a:t>
            </a:r>
            <a:r>
              <a:rPr lang="en-US" sz="1800" b="1" dirty="0">
                <a:effectLst/>
                <a:latin typeface="Times New Roman" panose="02020603050405020304" pitchFamily="18" charset="0"/>
                <a:ea typeface="Bitstream Vera Sans"/>
                <a:cs typeface="Times New Roman" panose="02020603050405020304" pitchFamily="18" charset="0"/>
              </a:rPr>
              <a:t>:</a:t>
            </a:r>
            <a:endParaRPr lang="en-IN" sz="1400" dirty="0">
              <a:effectLst/>
              <a:latin typeface="Nimbus Roman No9 L"/>
              <a:ea typeface="Bitstream Vera Sans"/>
              <a:cs typeface="Times New Roman" panose="02020603050405020304" pitchFamily="18" charset="0"/>
            </a:endParaRPr>
          </a:p>
        </p:txBody>
      </p:sp>
      <p:pic>
        <p:nvPicPr>
          <p:cNvPr id="11267" name="Picture 3">
            <a:extLst>
              <a:ext uri="{FF2B5EF4-FFF2-40B4-BE49-F238E27FC236}">
                <a16:creationId xmlns:a16="http://schemas.microsoft.com/office/drawing/2014/main" id="{86AE42D9-A57B-6914-5F74-27693E2A3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2748" y="4371346"/>
            <a:ext cx="4166497" cy="1794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7258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C26C6-D7E1-E4C9-846B-A22B3D231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F75BDF-D481-9D78-9818-A74961074145}"/>
              </a:ext>
            </a:extLst>
          </p:cNvPr>
          <p:cNvSpPr>
            <a:spLocks noGrp="1"/>
          </p:cNvSpPr>
          <p:nvPr>
            <p:ph type="title"/>
          </p:nvPr>
        </p:nvSpPr>
        <p:spPr>
          <a:xfrm>
            <a:off x="1765311" y="692646"/>
            <a:ext cx="2551050" cy="523876"/>
          </a:xfrm>
        </p:spPr>
        <p:txBody>
          <a:bodyPr>
            <a:noAutofit/>
          </a:bodyPr>
          <a:lstStyle/>
          <a:p>
            <a:pPr algn="l"/>
            <a:r>
              <a:rPr lang="en-IN" sz="2800" dirty="0">
                <a:solidFill>
                  <a:schemeClr val="tx1"/>
                </a:solidFill>
                <a:latin typeface="Times New Roman" panose="02020603050405020304" pitchFamily="18" charset="0"/>
                <a:cs typeface="Times New Roman" panose="02020603050405020304" pitchFamily="18" charset="0"/>
              </a:rPr>
              <a:t>UML Diagrams:</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E14DE88-758D-643E-7D59-F6C2CD6724F0}"/>
              </a:ext>
            </a:extLst>
          </p:cNvPr>
          <p:cNvSpPr txBox="1"/>
          <p:nvPr/>
        </p:nvSpPr>
        <p:spPr>
          <a:xfrm>
            <a:off x="3048000" y="1216522"/>
            <a:ext cx="6096000" cy="369332"/>
          </a:xfrm>
          <a:prstGeom prst="rect">
            <a:avLst/>
          </a:prstGeom>
          <a:noFill/>
        </p:spPr>
        <p:txBody>
          <a:bodyPr wrap="square">
            <a:spAutoFit/>
          </a:bodyPr>
          <a:lstStyle/>
          <a:p>
            <a:pPr algn="ctr"/>
            <a:r>
              <a:rPr lang="en-IN" sz="1800" b="1" dirty="0">
                <a:effectLst/>
                <a:latin typeface="Times New Roman" panose="02020603050405020304" pitchFamily="18" charset="0"/>
                <a:ea typeface="Times New Roman" panose="02020603050405020304" pitchFamily="18" charset="0"/>
              </a:rPr>
              <a:t>Sequence Diagram </a:t>
            </a:r>
            <a:r>
              <a:rPr lang="en-IN" b="1" dirty="0">
                <a:latin typeface="Times New Roman" panose="02020603050405020304" pitchFamily="18" charset="0"/>
                <a:ea typeface="Times New Roman" panose="02020603050405020304" pitchFamily="18" charset="0"/>
              </a:rPr>
              <a:t>:</a:t>
            </a:r>
            <a:endParaRPr lang="en-IN" dirty="0"/>
          </a:p>
        </p:txBody>
      </p:sp>
      <p:pic>
        <p:nvPicPr>
          <p:cNvPr id="12290" name="Picture 2">
            <a:extLst>
              <a:ext uri="{FF2B5EF4-FFF2-40B4-BE49-F238E27FC236}">
                <a16:creationId xmlns:a16="http://schemas.microsoft.com/office/drawing/2014/main" id="{D15EF2DD-AE5F-8E26-4BBD-C526D5A6E3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3179" y="1903252"/>
            <a:ext cx="3085642" cy="4458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0857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673D4-2ED8-F8BC-55A9-98373863F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912373-515D-6DBE-86AA-CE75CFE63D18}"/>
              </a:ext>
            </a:extLst>
          </p:cNvPr>
          <p:cNvSpPr>
            <a:spLocks noGrp="1"/>
          </p:cNvSpPr>
          <p:nvPr>
            <p:ph type="title"/>
          </p:nvPr>
        </p:nvSpPr>
        <p:spPr>
          <a:xfrm>
            <a:off x="1765311" y="692646"/>
            <a:ext cx="2551050" cy="523876"/>
          </a:xfrm>
        </p:spPr>
        <p:txBody>
          <a:bodyPr>
            <a:noAutofit/>
          </a:bodyPr>
          <a:lstStyle/>
          <a:p>
            <a:pPr algn="l"/>
            <a:r>
              <a:rPr lang="en-IN" sz="2800" dirty="0">
                <a:solidFill>
                  <a:schemeClr val="tx1"/>
                </a:solidFill>
                <a:latin typeface="Times New Roman" panose="02020603050405020304" pitchFamily="18" charset="0"/>
                <a:cs typeface="Times New Roman" panose="02020603050405020304" pitchFamily="18" charset="0"/>
              </a:rPr>
              <a:t>UML Diagrams:</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FDED074-C664-7AC8-BAF0-69B8DC2A8684}"/>
              </a:ext>
            </a:extLst>
          </p:cNvPr>
          <p:cNvSpPr txBox="1"/>
          <p:nvPr/>
        </p:nvSpPr>
        <p:spPr>
          <a:xfrm>
            <a:off x="3048000" y="1216522"/>
            <a:ext cx="6096000" cy="369332"/>
          </a:xfrm>
          <a:prstGeom prst="rect">
            <a:avLst/>
          </a:prstGeom>
          <a:noFill/>
        </p:spPr>
        <p:txBody>
          <a:bodyPr wrap="square">
            <a:spAutoFit/>
          </a:bodyPr>
          <a:lstStyle/>
          <a:p>
            <a:pPr algn="ctr"/>
            <a:r>
              <a:rPr lang="en-IN" sz="1800" b="1" dirty="0">
                <a:effectLst/>
                <a:latin typeface="Times New Roman" panose="02020603050405020304" pitchFamily="18" charset="0"/>
                <a:ea typeface="Times New Roman" panose="02020603050405020304" pitchFamily="18" charset="0"/>
              </a:rPr>
              <a:t>Data </a:t>
            </a:r>
            <a:r>
              <a:rPr lang="en-IN" b="1" dirty="0">
                <a:latin typeface="Times New Roman" panose="02020603050405020304" pitchFamily="18" charset="0"/>
                <a:ea typeface="Times New Roman" panose="02020603050405020304" pitchFamily="18" charset="0"/>
              </a:rPr>
              <a:t>Flow </a:t>
            </a:r>
            <a:r>
              <a:rPr lang="en-IN" sz="1800" b="1" dirty="0">
                <a:effectLst/>
                <a:latin typeface="Times New Roman" panose="02020603050405020304" pitchFamily="18" charset="0"/>
                <a:ea typeface="Times New Roman" panose="02020603050405020304" pitchFamily="18" charset="0"/>
              </a:rPr>
              <a:t>Diagram </a:t>
            </a:r>
            <a:r>
              <a:rPr lang="en-IN" b="1" dirty="0">
                <a:latin typeface="Times New Roman" panose="02020603050405020304" pitchFamily="18" charset="0"/>
                <a:ea typeface="Times New Roman" panose="02020603050405020304" pitchFamily="18" charset="0"/>
              </a:rPr>
              <a:t>:</a:t>
            </a:r>
            <a:endParaRPr lang="en-IN" dirty="0"/>
          </a:p>
        </p:txBody>
      </p:sp>
      <p:pic>
        <p:nvPicPr>
          <p:cNvPr id="7" name="Picture 6">
            <a:extLst>
              <a:ext uri="{FF2B5EF4-FFF2-40B4-BE49-F238E27FC236}">
                <a16:creationId xmlns:a16="http://schemas.microsoft.com/office/drawing/2014/main" id="{3E1A39F2-68F9-B856-F67A-D4C4BDC0CFB3}"/>
              </a:ext>
            </a:extLst>
          </p:cNvPr>
          <p:cNvPicPr>
            <a:picLocks noChangeAspect="1"/>
          </p:cNvPicPr>
          <p:nvPr/>
        </p:nvPicPr>
        <p:blipFill>
          <a:blip r:embed="rId2"/>
          <a:stretch>
            <a:fillRect/>
          </a:stretch>
        </p:blipFill>
        <p:spPr>
          <a:xfrm>
            <a:off x="5105805" y="1772667"/>
            <a:ext cx="1980389" cy="4758203"/>
          </a:xfrm>
          <a:prstGeom prst="rect">
            <a:avLst/>
          </a:prstGeom>
        </p:spPr>
      </p:pic>
    </p:spTree>
    <p:extLst>
      <p:ext uri="{BB962C8B-B14F-4D97-AF65-F5344CB8AC3E}">
        <p14:creationId xmlns:p14="http://schemas.microsoft.com/office/powerpoint/2010/main" val="3945886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A1407-D340-C49A-0218-11364D84DB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2513A-9186-A5CA-3D80-5DD621303DED}"/>
              </a:ext>
            </a:extLst>
          </p:cNvPr>
          <p:cNvSpPr>
            <a:spLocks noGrp="1"/>
          </p:cNvSpPr>
          <p:nvPr>
            <p:ph type="title"/>
          </p:nvPr>
        </p:nvSpPr>
        <p:spPr>
          <a:xfrm>
            <a:off x="1765310" y="692646"/>
            <a:ext cx="2806689" cy="523876"/>
          </a:xfrm>
        </p:spPr>
        <p:txBody>
          <a:bodyPr>
            <a:noAutofit/>
          </a:bodyPr>
          <a:lstStyle/>
          <a:p>
            <a:pPr algn="l"/>
            <a:r>
              <a:rPr lang="en-IN" sz="2800" dirty="0">
                <a:solidFill>
                  <a:schemeClr val="tx1"/>
                </a:solidFill>
                <a:latin typeface="Times New Roman" panose="02020603050405020304" pitchFamily="18" charset="0"/>
                <a:cs typeface="Times New Roman" panose="02020603050405020304" pitchFamily="18" charset="0"/>
              </a:rPr>
              <a:t>Database Design:</a:t>
            </a:r>
            <a:endParaRPr lang="en-IN"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1167AE3-A1DF-4279-43A9-EB9A4F1E7195}"/>
              </a:ext>
            </a:extLst>
          </p:cNvPr>
          <p:cNvSpPr txBox="1"/>
          <p:nvPr/>
        </p:nvSpPr>
        <p:spPr>
          <a:xfrm>
            <a:off x="3048000" y="1737631"/>
            <a:ext cx="6096000" cy="369332"/>
          </a:xfrm>
          <a:prstGeom prst="rect">
            <a:avLst/>
          </a:prstGeom>
          <a:noFill/>
        </p:spPr>
        <p:txBody>
          <a:bodyPr wrap="square">
            <a:spAutoFit/>
          </a:bodyPr>
          <a:lstStyle/>
          <a:p>
            <a:pPr algn="ct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User Register Table :</a:t>
            </a:r>
            <a:endParaRPr lang="en-IN" sz="1400" dirty="0">
              <a:effectLst/>
              <a:latin typeface="Nimbus Roman No9 L"/>
              <a:ea typeface="Bitstream Vera Sans"/>
              <a:cs typeface="Times New Roman" panose="02020603050405020304" pitchFamily="18" charset="0"/>
            </a:endParaRPr>
          </a:p>
        </p:txBody>
      </p:sp>
      <p:pic>
        <p:nvPicPr>
          <p:cNvPr id="5" name="Picture 4">
            <a:extLst>
              <a:ext uri="{FF2B5EF4-FFF2-40B4-BE49-F238E27FC236}">
                <a16:creationId xmlns:a16="http://schemas.microsoft.com/office/drawing/2014/main" id="{8B776B68-BFBC-E9A2-4E60-8CC02450193E}"/>
              </a:ext>
            </a:extLst>
          </p:cNvPr>
          <p:cNvPicPr>
            <a:picLocks noChangeAspect="1"/>
          </p:cNvPicPr>
          <p:nvPr/>
        </p:nvPicPr>
        <p:blipFill>
          <a:blip r:embed="rId2"/>
          <a:stretch>
            <a:fillRect/>
          </a:stretch>
        </p:blipFill>
        <p:spPr>
          <a:xfrm>
            <a:off x="2780837" y="2662130"/>
            <a:ext cx="6630325" cy="1533739"/>
          </a:xfrm>
          <a:prstGeom prst="rect">
            <a:avLst/>
          </a:prstGeom>
        </p:spPr>
      </p:pic>
    </p:spTree>
    <p:extLst>
      <p:ext uri="{BB962C8B-B14F-4D97-AF65-F5344CB8AC3E}">
        <p14:creationId xmlns:p14="http://schemas.microsoft.com/office/powerpoint/2010/main" val="3892899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8DC69-5940-0F9D-E021-9418B73378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3CF97-7165-9EFE-1BA0-15017BEAFD26}"/>
              </a:ext>
            </a:extLst>
          </p:cNvPr>
          <p:cNvSpPr>
            <a:spLocks noGrp="1"/>
          </p:cNvSpPr>
          <p:nvPr>
            <p:ph type="title"/>
          </p:nvPr>
        </p:nvSpPr>
        <p:spPr>
          <a:xfrm>
            <a:off x="1765310" y="692646"/>
            <a:ext cx="2806689" cy="523876"/>
          </a:xfrm>
        </p:spPr>
        <p:txBody>
          <a:bodyPr>
            <a:noAutofit/>
          </a:bodyPr>
          <a:lstStyle/>
          <a:p>
            <a:pPr algn="l"/>
            <a:r>
              <a:rPr lang="en-IN" sz="2800" dirty="0">
                <a:solidFill>
                  <a:schemeClr val="tx1"/>
                </a:solidFill>
                <a:latin typeface="Times New Roman" panose="02020603050405020304" pitchFamily="18" charset="0"/>
                <a:cs typeface="Times New Roman" panose="02020603050405020304" pitchFamily="18" charset="0"/>
              </a:rPr>
              <a:t>Database Design:</a:t>
            </a:r>
            <a:endParaRPr lang="en-IN"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B791EFA-F1E8-2C56-86B8-A2BC680C21E3}"/>
              </a:ext>
            </a:extLst>
          </p:cNvPr>
          <p:cNvSpPr txBox="1"/>
          <p:nvPr/>
        </p:nvSpPr>
        <p:spPr>
          <a:xfrm>
            <a:off x="3048000" y="1737631"/>
            <a:ext cx="6096000" cy="369332"/>
          </a:xfrm>
          <a:prstGeom prst="rect">
            <a:avLst/>
          </a:prstGeom>
          <a:noFill/>
        </p:spPr>
        <p:txBody>
          <a:bodyPr wrap="square">
            <a:spAutoFit/>
          </a:bodyPr>
          <a:lstStyle/>
          <a:p>
            <a:pPr algn="ct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Student Details Table :</a:t>
            </a:r>
            <a:endParaRPr lang="en-IN" sz="1800" dirty="0">
              <a:effectLst/>
              <a:latin typeface="Nimbus Roman No9 L"/>
              <a:ea typeface="Bitstream Vera Sans"/>
              <a:cs typeface="Times New Roman" panose="02020603050405020304" pitchFamily="18" charset="0"/>
            </a:endParaRPr>
          </a:p>
        </p:txBody>
      </p:sp>
      <p:pic>
        <p:nvPicPr>
          <p:cNvPr id="14338" name="Picture 1">
            <a:extLst>
              <a:ext uri="{FF2B5EF4-FFF2-40B4-BE49-F238E27FC236}">
                <a16:creationId xmlns:a16="http://schemas.microsoft.com/office/drawing/2014/main" id="{01DBA964-E88A-44C8-2253-C2B839165D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628072"/>
            <a:ext cx="6268217" cy="3733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69341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DDF60-056B-F419-F932-474C68E4D8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829F31-10C9-4491-B9F7-078DFCA8D4D8}"/>
              </a:ext>
            </a:extLst>
          </p:cNvPr>
          <p:cNvSpPr>
            <a:spLocks noGrp="1"/>
          </p:cNvSpPr>
          <p:nvPr>
            <p:ph type="title"/>
          </p:nvPr>
        </p:nvSpPr>
        <p:spPr>
          <a:xfrm>
            <a:off x="1765310" y="692646"/>
            <a:ext cx="2806689" cy="523876"/>
          </a:xfrm>
        </p:spPr>
        <p:txBody>
          <a:bodyPr>
            <a:noAutofit/>
          </a:bodyPr>
          <a:lstStyle/>
          <a:p>
            <a:pPr algn="l"/>
            <a:r>
              <a:rPr lang="en-IN" sz="2800" dirty="0">
                <a:solidFill>
                  <a:schemeClr val="tx1"/>
                </a:solidFill>
                <a:latin typeface="Times New Roman" panose="02020603050405020304" pitchFamily="18" charset="0"/>
                <a:cs typeface="Times New Roman" panose="02020603050405020304" pitchFamily="18" charset="0"/>
              </a:rPr>
              <a:t>Database Design:</a:t>
            </a:r>
            <a:endParaRPr lang="en-IN"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5B0DCA9-06E9-6DFC-227D-0D6E8C82C6E2}"/>
              </a:ext>
            </a:extLst>
          </p:cNvPr>
          <p:cNvSpPr txBox="1"/>
          <p:nvPr/>
        </p:nvSpPr>
        <p:spPr>
          <a:xfrm>
            <a:off x="3048000" y="1737631"/>
            <a:ext cx="6096000" cy="369332"/>
          </a:xfrm>
          <a:prstGeom prst="rect">
            <a:avLst/>
          </a:prstGeom>
          <a:noFill/>
        </p:spPr>
        <p:txBody>
          <a:bodyPr wrap="square">
            <a:spAutoFit/>
          </a:bodyPr>
          <a:lstStyle/>
          <a:p>
            <a:pPr algn="ct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Course Details Table :</a:t>
            </a:r>
            <a:endParaRPr lang="en-IN" sz="1800" dirty="0">
              <a:effectLst/>
              <a:latin typeface="Nimbus Roman No9 L"/>
              <a:ea typeface="Bitstream Vera Sans"/>
              <a:cs typeface="Times New Roman" panose="02020603050405020304" pitchFamily="18" charset="0"/>
            </a:endParaRPr>
          </a:p>
        </p:txBody>
      </p:sp>
      <p:pic>
        <p:nvPicPr>
          <p:cNvPr id="15362" name="Picture 1">
            <a:extLst>
              <a:ext uri="{FF2B5EF4-FFF2-40B4-BE49-F238E27FC236}">
                <a16:creationId xmlns:a16="http://schemas.microsoft.com/office/drawing/2014/main" id="{3823789A-AE64-317D-617E-22531A3F54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8496" y="2628072"/>
            <a:ext cx="7475008" cy="2309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9391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C2ECC-80FE-D57F-B90D-5292C78D1E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15C16-33AA-8C3B-458C-D541DFABC43D}"/>
              </a:ext>
            </a:extLst>
          </p:cNvPr>
          <p:cNvSpPr>
            <a:spLocks noGrp="1"/>
          </p:cNvSpPr>
          <p:nvPr>
            <p:ph type="title"/>
          </p:nvPr>
        </p:nvSpPr>
        <p:spPr>
          <a:xfrm>
            <a:off x="1765310" y="692646"/>
            <a:ext cx="2806689" cy="523876"/>
          </a:xfrm>
        </p:spPr>
        <p:txBody>
          <a:bodyPr>
            <a:noAutofit/>
          </a:bodyPr>
          <a:lstStyle/>
          <a:p>
            <a:pPr algn="l"/>
            <a:r>
              <a:rPr lang="en-IN" sz="2800" dirty="0">
                <a:solidFill>
                  <a:schemeClr val="tx1"/>
                </a:solidFill>
                <a:latin typeface="Times New Roman" panose="02020603050405020304" pitchFamily="18" charset="0"/>
                <a:cs typeface="Times New Roman" panose="02020603050405020304" pitchFamily="18" charset="0"/>
              </a:rPr>
              <a:t>Database Design:</a:t>
            </a:r>
            <a:endParaRPr lang="en-IN"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79E0E5D-4238-5BED-231C-B050D243E4A4}"/>
              </a:ext>
            </a:extLst>
          </p:cNvPr>
          <p:cNvSpPr txBox="1"/>
          <p:nvPr/>
        </p:nvSpPr>
        <p:spPr>
          <a:xfrm>
            <a:off x="3048000" y="1737631"/>
            <a:ext cx="6096000" cy="369332"/>
          </a:xfrm>
          <a:prstGeom prst="rect">
            <a:avLst/>
          </a:prstGeom>
          <a:noFill/>
        </p:spPr>
        <p:txBody>
          <a:bodyPr wrap="square">
            <a:spAutoFit/>
          </a:bodyPr>
          <a:lstStyle/>
          <a:p>
            <a:pPr algn="ct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Result Details Table :</a:t>
            </a:r>
            <a:endParaRPr lang="en-IN" sz="1800" dirty="0">
              <a:effectLst/>
              <a:latin typeface="Nimbus Roman No9 L"/>
              <a:ea typeface="Bitstream Vera Sans"/>
              <a:cs typeface="Times New Roman" panose="02020603050405020304" pitchFamily="18" charset="0"/>
            </a:endParaRPr>
          </a:p>
        </p:txBody>
      </p:sp>
      <p:pic>
        <p:nvPicPr>
          <p:cNvPr id="16386" name="Picture 1">
            <a:extLst>
              <a:ext uri="{FF2B5EF4-FFF2-40B4-BE49-F238E27FC236}">
                <a16:creationId xmlns:a16="http://schemas.microsoft.com/office/drawing/2014/main" id="{E1F174E2-01F7-64DC-91E0-A6C3AE59F9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9289" y="2628072"/>
            <a:ext cx="7053422" cy="2869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58958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60742-7AB3-40E7-0DD5-F24700892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765925-66D0-B53B-F8C5-08B11280ED6A}"/>
              </a:ext>
            </a:extLst>
          </p:cNvPr>
          <p:cNvSpPr>
            <a:spLocks noGrp="1"/>
          </p:cNvSpPr>
          <p:nvPr>
            <p:ph type="title"/>
          </p:nvPr>
        </p:nvSpPr>
        <p:spPr>
          <a:xfrm>
            <a:off x="1765310" y="692646"/>
            <a:ext cx="2806689" cy="523876"/>
          </a:xfrm>
        </p:spPr>
        <p:txBody>
          <a:bodyPr>
            <a:noAutofit/>
          </a:bodyPr>
          <a:lstStyle/>
          <a:p>
            <a:pPr algn="l"/>
            <a:r>
              <a:rPr lang="en-IN" sz="2800" dirty="0">
                <a:solidFill>
                  <a:schemeClr val="tx1"/>
                </a:solidFill>
                <a:latin typeface="Times New Roman" panose="02020603050405020304" pitchFamily="18" charset="0"/>
                <a:cs typeface="Times New Roman" panose="02020603050405020304" pitchFamily="18" charset="0"/>
              </a:rPr>
              <a:t>Conclusion:</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64EF27D-73EC-A5D2-09F1-C06AEF18357B}"/>
              </a:ext>
            </a:extLst>
          </p:cNvPr>
          <p:cNvSpPr txBox="1"/>
          <p:nvPr/>
        </p:nvSpPr>
        <p:spPr>
          <a:xfrm>
            <a:off x="1765310" y="1859339"/>
            <a:ext cx="8647051" cy="3139321"/>
          </a:xfrm>
          <a:prstGeom prst="rect">
            <a:avLst/>
          </a:prstGeom>
          <a:noFill/>
        </p:spPr>
        <p:txBody>
          <a:bodyPr wrap="square">
            <a:spAutoFit/>
          </a:bodyPr>
          <a:lstStyle/>
          <a:p>
            <a:pPr algn="just"/>
            <a:r>
              <a:rPr lang="en-US" sz="1800" dirty="0">
                <a:effectLst/>
                <a:latin typeface="Times New Roman" panose="02020603050405020304" pitchFamily="18" charset="0"/>
                <a:ea typeface="Bitstream Vera Sans"/>
                <a:cs typeface="Times New Roman" panose="02020603050405020304" pitchFamily="18" charset="0"/>
              </a:rPr>
              <a:t>We Have Successfully Implemented The Program . Working Experience With Our Project Guide Is One Of The Unique Experiences. Our Project Guide </a:t>
            </a:r>
            <a:r>
              <a:rPr lang="en-US" sz="1800" dirty="0">
                <a:solidFill>
                  <a:srgbClr val="FF0000"/>
                </a:solidFill>
                <a:effectLst/>
                <a:latin typeface="Times New Roman" panose="02020603050405020304" pitchFamily="18" charset="0"/>
                <a:ea typeface="Bitstream Vera Sans"/>
                <a:cs typeface="Times New Roman" panose="02020603050405020304" pitchFamily="18" charset="0"/>
              </a:rPr>
              <a:t>Prof. </a:t>
            </a:r>
            <a:r>
              <a:rPr lang="en-US" sz="1800" dirty="0">
                <a:solidFill>
                  <a:srgbClr val="FF0000"/>
                </a:solidFill>
                <a:effectLst/>
                <a:latin typeface="Nimbus Roman No9 L"/>
                <a:ea typeface="Bitstream Vera Sans"/>
                <a:cs typeface="Times New Roman" panose="02020603050405020304" pitchFamily="18" charset="0"/>
              </a:rPr>
              <a:t>Jignesh </a:t>
            </a:r>
            <a:r>
              <a:rPr lang="en-US" sz="1800" dirty="0" err="1">
                <a:solidFill>
                  <a:srgbClr val="FF0000"/>
                </a:solidFill>
                <a:effectLst/>
                <a:latin typeface="Nimbus Roman No9 L"/>
                <a:ea typeface="Bitstream Vera Sans"/>
                <a:cs typeface="Times New Roman" panose="02020603050405020304" pitchFamily="18" charset="0"/>
              </a:rPr>
              <a:t>Kariya</a:t>
            </a:r>
            <a:r>
              <a:rPr lang="en-US" sz="1800" dirty="0">
                <a:solidFill>
                  <a:srgbClr val="FF0000"/>
                </a:solidFill>
                <a:effectLst/>
                <a:latin typeface="Times New Roman" panose="02020603050405020304" pitchFamily="18" charset="0"/>
                <a:ea typeface="Bitstream Vera Sans"/>
                <a:cs typeface="Times New Roman" panose="02020603050405020304" pitchFamily="18" charset="0"/>
              </a:rPr>
              <a:t> </a:t>
            </a:r>
            <a:r>
              <a:rPr lang="en-US" sz="1800" dirty="0">
                <a:solidFill>
                  <a:srgbClr val="171717"/>
                </a:solidFill>
                <a:effectLst/>
                <a:latin typeface="Times New Roman" panose="02020603050405020304" pitchFamily="18" charset="0"/>
                <a:ea typeface="Bitstream Vera Sans"/>
                <a:cs typeface="Times New Roman" panose="02020603050405020304" pitchFamily="18" charset="0"/>
              </a:rPr>
              <a:t>Provided Full Support To Us he Always Helped Us Like Our Friend And Companion In Any Situation Or Error On Our Project In A Professional Guide They Provide The Information Required Us In Any Time.</a:t>
            </a:r>
            <a:endParaRPr lang="en-IN" sz="1800" dirty="0">
              <a:effectLst/>
              <a:latin typeface="Nimbus Roman No9 L"/>
              <a:ea typeface="Bitstream Vera Sans"/>
              <a:cs typeface="Times New Roman" panose="02020603050405020304" pitchFamily="18" charset="0"/>
            </a:endParaRPr>
          </a:p>
          <a:p>
            <a:pPr algn="just"/>
            <a:r>
              <a:rPr lang="en-US" sz="1800" dirty="0">
                <a:solidFill>
                  <a:srgbClr val="171717"/>
                </a:solidFill>
                <a:effectLst/>
                <a:latin typeface="Times New Roman" panose="02020603050405020304" pitchFamily="18" charset="0"/>
                <a:ea typeface="Bitstream Vera Sans"/>
                <a:cs typeface="Times New Roman" panose="02020603050405020304" pitchFamily="18" charset="0"/>
              </a:rPr>
              <a:t> </a:t>
            </a:r>
            <a:endParaRPr lang="en-IN" sz="1800" dirty="0">
              <a:effectLst/>
              <a:latin typeface="Nimbus Roman No9 L"/>
              <a:ea typeface="Bitstream Vera Sans"/>
              <a:cs typeface="Times New Roman" panose="02020603050405020304" pitchFamily="18" charset="0"/>
            </a:endParaRPr>
          </a:p>
          <a:p>
            <a:pPr algn="just"/>
            <a:r>
              <a:rPr lang="en-US" sz="1800" dirty="0">
                <a:solidFill>
                  <a:srgbClr val="171717"/>
                </a:solidFill>
                <a:effectLst/>
                <a:latin typeface="Times New Roman" panose="02020603050405020304" pitchFamily="18" charset="0"/>
                <a:ea typeface="Bitstream Vera Sans"/>
                <a:cs typeface="Times New Roman" panose="02020603050405020304" pitchFamily="18" charset="0"/>
              </a:rPr>
              <a:t>Working Experience With Our Teammates Was Very Unique Together We Learn So Many Things.</a:t>
            </a:r>
            <a:endParaRPr lang="en-IN" sz="1800" dirty="0">
              <a:effectLst/>
              <a:latin typeface="Nimbus Roman No9 L"/>
              <a:ea typeface="Bitstream Vera Sans"/>
              <a:cs typeface="Times New Roman" panose="02020603050405020304" pitchFamily="18" charset="0"/>
            </a:endParaRPr>
          </a:p>
          <a:p>
            <a:pPr algn="just"/>
            <a:r>
              <a:rPr lang="en-US" sz="1800" dirty="0">
                <a:solidFill>
                  <a:srgbClr val="171717"/>
                </a:solidFill>
                <a:effectLst/>
                <a:latin typeface="Times New Roman" panose="02020603050405020304" pitchFamily="18" charset="0"/>
                <a:ea typeface="Bitstream Vera Sans"/>
                <a:cs typeface="Times New Roman" panose="02020603050405020304" pitchFamily="18" charset="0"/>
              </a:rPr>
              <a:t> </a:t>
            </a:r>
            <a:endParaRPr lang="en-IN" sz="1800" dirty="0">
              <a:effectLst/>
              <a:latin typeface="Nimbus Roman No9 L"/>
              <a:ea typeface="Bitstream Vera Sans"/>
              <a:cs typeface="Times New Roman" panose="02020603050405020304" pitchFamily="18" charset="0"/>
            </a:endParaRPr>
          </a:p>
          <a:p>
            <a:pPr algn="just"/>
            <a:r>
              <a:rPr lang="en-US" sz="1800" dirty="0">
                <a:solidFill>
                  <a:srgbClr val="171717"/>
                </a:solidFill>
                <a:effectLst/>
                <a:latin typeface="Times New Roman" panose="02020603050405020304" pitchFamily="18" charset="0"/>
                <a:ea typeface="Bitstream Vera Sans"/>
                <a:cs typeface="Times New Roman" panose="02020603050405020304" pitchFamily="18" charset="0"/>
              </a:rPr>
              <a:t>Also, The Other Faculty Members Related FOCA Department Had Helped Us In Any Situation By Leap And Bounds.</a:t>
            </a:r>
            <a:endParaRPr lang="en-IN" sz="1800" dirty="0">
              <a:effectLst/>
              <a:latin typeface="Nimbus Roman No9 L"/>
              <a:ea typeface="Bitstream Vera Sans"/>
              <a:cs typeface="Times New Roman" panose="02020603050405020304" pitchFamily="18" charset="0"/>
            </a:endParaRPr>
          </a:p>
        </p:txBody>
      </p:sp>
    </p:spTree>
    <p:extLst>
      <p:ext uri="{BB962C8B-B14F-4D97-AF65-F5344CB8AC3E}">
        <p14:creationId xmlns:p14="http://schemas.microsoft.com/office/powerpoint/2010/main" val="20804029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7DE6E-266F-DB79-283B-D658DACEE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0BF648-1CCD-88D3-3B3A-33213CA97385}"/>
              </a:ext>
            </a:extLst>
          </p:cNvPr>
          <p:cNvSpPr>
            <a:spLocks noGrp="1"/>
          </p:cNvSpPr>
          <p:nvPr>
            <p:ph type="title"/>
          </p:nvPr>
        </p:nvSpPr>
        <p:spPr>
          <a:xfrm>
            <a:off x="1765310" y="692646"/>
            <a:ext cx="4822303" cy="523876"/>
          </a:xfrm>
        </p:spPr>
        <p:txBody>
          <a:bodyPr>
            <a:noAutofit/>
          </a:bodyPr>
          <a:lstStyle/>
          <a:p>
            <a:r>
              <a:rPr lang="en-US" sz="2800" dirty="0">
                <a:effectLst/>
                <a:latin typeface="Times New Roman" panose="02020603050405020304" pitchFamily="18" charset="0"/>
                <a:ea typeface="Bitstream Vera Sans"/>
              </a:rPr>
              <a:t>Learning During Project Work :</a:t>
            </a:r>
            <a:endParaRPr lang="en-IN" sz="1400" dirty="0"/>
          </a:p>
        </p:txBody>
      </p:sp>
      <p:sp>
        <p:nvSpPr>
          <p:cNvPr id="5" name="TextBox 4">
            <a:extLst>
              <a:ext uri="{FF2B5EF4-FFF2-40B4-BE49-F238E27FC236}">
                <a16:creationId xmlns:a16="http://schemas.microsoft.com/office/drawing/2014/main" id="{32B3A735-B542-9E1F-76DB-2C3B18736FE7}"/>
              </a:ext>
            </a:extLst>
          </p:cNvPr>
          <p:cNvSpPr txBox="1"/>
          <p:nvPr/>
        </p:nvSpPr>
        <p:spPr>
          <a:xfrm>
            <a:off x="1765310" y="1749488"/>
            <a:ext cx="8647051" cy="1200329"/>
          </a:xfrm>
          <a:prstGeom prst="rect">
            <a:avLst/>
          </a:prstGeom>
          <a:noFill/>
        </p:spPr>
        <p:txBody>
          <a:bodyPr wrap="square">
            <a:spAutoFit/>
          </a:bodyPr>
          <a:lstStyle/>
          <a:p>
            <a:pPr algn="just"/>
            <a:r>
              <a:rPr lang="en-US" sz="1800" dirty="0">
                <a:effectLst/>
                <a:latin typeface="Times New Roman" panose="02020603050405020304" pitchFamily="18" charset="0"/>
                <a:ea typeface="Bitstream Vera Sans"/>
                <a:cs typeface="Times New Roman" panose="02020603050405020304" pitchFamily="18" charset="0"/>
              </a:rPr>
              <a:t>When We Are Working On The Mini Project, We Learn Lots Of Things, And We Also Get Knowledge About Coding.</a:t>
            </a:r>
            <a:endParaRPr lang="en-IN" sz="1800" dirty="0">
              <a:effectLst/>
              <a:latin typeface="Nimbus Roman No9 L"/>
              <a:ea typeface="Bitstream Vera Sans"/>
              <a:cs typeface="Times New Roman" panose="02020603050405020304" pitchFamily="18" charset="0"/>
            </a:endParaRPr>
          </a:p>
          <a:p>
            <a:pPr algn="just"/>
            <a:r>
              <a:rPr lang="en-US" sz="1800" dirty="0">
                <a:effectLst/>
                <a:latin typeface="Times New Roman" panose="02020603050405020304" pitchFamily="18" charset="0"/>
                <a:ea typeface="Bitstream Vera Sans"/>
                <a:cs typeface="Times New Roman" panose="02020603050405020304" pitchFamily="18" charset="0"/>
              </a:rPr>
              <a:t> </a:t>
            </a:r>
            <a:endParaRPr lang="en-IN" sz="1800" dirty="0">
              <a:effectLst/>
              <a:latin typeface="Nimbus Roman No9 L"/>
              <a:ea typeface="Bitstream Vera Sans"/>
              <a:cs typeface="Times New Roman" panose="02020603050405020304" pitchFamily="18" charset="0"/>
            </a:endParaRPr>
          </a:p>
          <a:p>
            <a:pPr algn="just"/>
            <a:r>
              <a:rPr lang="en-US" sz="1800" dirty="0">
                <a:effectLst/>
                <a:latin typeface="Times New Roman" panose="02020603050405020304" pitchFamily="18" charset="0"/>
                <a:ea typeface="Bitstream Vera Sans"/>
                <a:cs typeface="Times New Roman" panose="02020603050405020304" pitchFamily="18" charset="0"/>
              </a:rPr>
              <a:t>We Also Learned How To Use File Handling To Manage.</a:t>
            </a:r>
            <a:endParaRPr lang="en-IN" sz="1800" dirty="0">
              <a:effectLst/>
              <a:latin typeface="Nimbus Roman No9 L"/>
              <a:ea typeface="Bitstream Vera Sans"/>
              <a:cs typeface="Times New Roman" panose="02020603050405020304" pitchFamily="18" charset="0"/>
            </a:endParaRPr>
          </a:p>
        </p:txBody>
      </p:sp>
    </p:spTree>
    <p:extLst>
      <p:ext uri="{BB962C8B-B14F-4D97-AF65-F5344CB8AC3E}">
        <p14:creationId xmlns:p14="http://schemas.microsoft.com/office/powerpoint/2010/main" val="1530247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17BB6-AA64-EBCE-8236-E9989801F5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97832-E1D0-0944-89EA-A9A3FCCF04CA}"/>
              </a:ext>
            </a:extLst>
          </p:cNvPr>
          <p:cNvSpPr>
            <a:spLocks noGrp="1"/>
          </p:cNvSpPr>
          <p:nvPr>
            <p:ph type="title"/>
          </p:nvPr>
        </p:nvSpPr>
        <p:spPr>
          <a:xfrm>
            <a:off x="1765311" y="692646"/>
            <a:ext cx="2285580" cy="523876"/>
          </a:xfrm>
        </p:spPr>
        <p:txBody>
          <a:bodyPr>
            <a:noAutofit/>
          </a:bodyPr>
          <a:lstStyle/>
          <a:p>
            <a:pPr algn="l"/>
            <a:r>
              <a:rPr lang="en-US" sz="2800" dirty="0">
                <a:effectLst/>
                <a:latin typeface="Times New Roman" panose="02020603050405020304" pitchFamily="18" charset="0"/>
                <a:ea typeface="Bitstream Vera Sans"/>
                <a:cs typeface="Times New Roman" panose="02020603050405020304" pitchFamily="18" charset="0"/>
              </a:rPr>
              <a:t>Bibliography :</a:t>
            </a:r>
            <a:endParaRPr lang="en-IN" sz="2800" dirty="0">
              <a:effectLst/>
              <a:latin typeface="Nimbus Roman No9 L"/>
              <a:ea typeface="Bitstream Vera Sans"/>
              <a:cs typeface="Times New Roman" panose="02020603050405020304" pitchFamily="18" charset="0"/>
            </a:endParaRPr>
          </a:p>
        </p:txBody>
      </p:sp>
      <p:sp>
        <p:nvSpPr>
          <p:cNvPr id="5" name="TextBox 4">
            <a:extLst>
              <a:ext uri="{FF2B5EF4-FFF2-40B4-BE49-F238E27FC236}">
                <a16:creationId xmlns:a16="http://schemas.microsoft.com/office/drawing/2014/main" id="{BD94AC46-A45C-F530-417E-6A9A41636E2D}"/>
              </a:ext>
            </a:extLst>
          </p:cNvPr>
          <p:cNvSpPr txBox="1"/>
          <p:nvPr/>
        </p:nvSpPr>
        <p:spPr>
          <a:xfrm>
            <a:off x="1765311" y="1859339"/>
            <a:ext cx="8647051" cy="3139321"/>
          </a:xfrm>
          <a:prstGeom prst="rect">
            <a:avLst/>
          </a:prstGeom>
          <a:noFill/>
        </p:spPr>
        <p:txBody>
          <a:bodyPr wrap="square">
            <a:spAutoFit/>
          </a:bodyPr>
          <a:lstStyle/>
          <a:p>
            <a:pPr algn="l"/>
            <a:r>
              <a:rPr lang="en-US" sz="1800" b="1" dirty="0">
                <a:effectLst/>
                <a:latin typeface="Times New Roman" panose="02020603050405020304" pitchFamily="18" charset="0"/>
                <a:ea typeface="Bitstream Vera Sans"/>
                <a:cs typeface="Times New Roman" panose="02020603050405020304" pitchFamily="18" charset="0"/>
              </a:rPr>
              <a:t>TEXT BOOK :</a:t>
            </a:r>
            <a:endParaRPr lang="en-IN" sz="1800" dirty="0">
              <a:effectLst/>
              <a:latin typeface="Nimbus Roman No9 L"/>
              <a:ea typeface="Bitstream Vera Sans"/>
              <a:cs typeface="Times New Roman" panose="02020603050405020304" pitchFamily="18" charset="0"/>
            </a:endParaRPr>
          </a:p>
          <a:p>
            <a:pPr algn="l"/>
            <a:r>
              <a:rPr lang="en-US" sz="1800" b="1" dirty="0">
                <a:effectLst/>
                <a:latin typeface="Times New Roman" panose="02020603050405020304" pitchFamily="18" charset="0"/>
                <a:ea typeface="Bitstream Vera Sans"/>
                <a:cs typeface="Times New Roman" panose="02020603050405020304" pitchFamily="18" charset="0"/>
              </a:rPr>
              <a:t> </a:t>
            </a:r>
            <a:endParaRPr lang="en-IN" sz="1800" dirty="0">
              <a:effectLst/>
              <a:latin typeface="Nimbus Roman No9 L"/>
              <a:ea typeface="Bitstream Vera Sans"/>
              <a:cs typeface="Times New Roman" panose="02020603050405020304" pitchFamily="18" charset="0"/>
            </a:endParaRPr>
          </a:p>
          <a:p>
            <a:pPr algn="l"/>
            <a:r>
              <a:rPr lang="en-US" sz="1800" dirty="0">
                <a:effectLst/>
                <a:latin typeface="Times New Roman" panose="02020603050405020304" pitchFamily="18" charset="0"/>
                <a:ea typeface="Bitstream Vera Sans"/>
                <a:cs typeface="Times New Roman" panose="02020603050405020304" pitchFamily="18" charset="0"/>
              </a:rPr>
              <a:t>1.</a:t>
            </a:r>
            <a:r>
              <a:rPr lang="en-US" sz="1800" b="1" dirty="0">
                <a:effectLst/>
                <a:latin typeface="Times New Roman" panose="02020603050405020304" pitchFamily="18" charset="0"/>
                <a:ea typeface="Bitstream Vera Sans"/>
                <a:cs typeface="Times New Roman" panose="02020603050405020304" pitchFamily="18" charset="0"/>
              </a:rPr>
              <a:t> </a:t>
            </a:r>
            <a:r>
              <a:rPr lang="en-US" sz="1800" dirty="0">
                <a:effectLst/>
                <a:latin typeface="Times New Roman" panose="02020603050405020304" pitchFamily="18" charset="0"/>
                <a:ea typeface="Bitstream Vera Sans"/>
                <a:cs typeface="Times New Roman" panose="02020603050405020304" pitchFamily="18" charset="0"/>
              </a:rPr>
              <a:t>Programing in Python, E. </a:t>
            </a:r>
            <a:r>
              <a:rPr lang="en-US" sz="1800" dirty="0" err="1">
                <a:effectLst/>
                <a:latin typeface="Times New Roman" panose="02020603050405020304" pitchFamily="18" charset="0"/>
                <a:ea typeface="Bitstream Vera Sans"/>
                <a:cs typeface="Times New Roman" panose="02020603050405020304" pitchFamily="18" charset="0"/>
              </a:rPr>
              <a:t>Balagurusamy</a:t>
            </a:r>
            <a:r>
              <a:rPr lang="en-US" sz="1800" dirty="0">
                <a:effectLst/>
                <a:latin typeface="Times New Roman" panose="02020603050405020304" pitchFamily="18" charset="0"/>
                <a:ea typeface="Bitstream Vera Sans"/>
                <a:cs typeface="Times New Roman" panose="02020603050405020304" pitchFamily="18" charset="0"/>
              </a:rPr>
              <a:t>, McGraw Hill, 7</a:t>
            </a:r>
            <a:r>
              <a:rPr lang="en-US" sz="1800" baseline="30000" dirty="0">
                <a:effectLst/>
                <a:latin typeface="Times New Roman" panose="02020603050405020304" pitchFamily="18" charset="0"/>
                <a:ea typeface="Bitstream Vera Sans"/>
                <a:cs typeface="Times New Roman" panose="02020603050405020304" pitchFamily="18" charset="0"/>
              </a:rPr>
              <a:t>th</a:t>
            </a:r>
            <a:r>
              <a:rPr lang="en-US" sz="1800" dirty="0">
                <a:effectLst/>
                <a:latin typeface="Times New Roman" panose="02020603050405020304" pitchFamily="18" charset="0"/>
                <a:ea typeface="Bitstream Vera Sans"/>
                <a:cs typeface="Times New Roman" panose="02020603050405020304" pitchFamily="18" charset="0"/>
              </a:rPr>
              <a:t> Edition.</a:t>
            </a:r>
            <a:endParaRPr lang="en-IN" sz="1800" dirty="0">
              <a:effectLst/>
              <a:latin typeface="Nimbus Roman No9 L"/>
              <a:ea typeface="Bitstream Vera Sans"/>
              <a:cs typeface="Times New Roman" panose="02020603050405020304" pitchFamily="18" charset="0"/>
            </a:endParaRPr>
          </a:p>
          <a:p>
            <a:pPr algn="l"/>
            <a:r>
              <a:rPr lang="en-US" sz="1800" dirty="0">
                <a:effectLst/>
                <a:latin typeface="Times New Roman" panose="02020603050405020304" pitchFamily="18" charset="0"/>
                <a:ea typeface="Bitstream Vera Sans"/>
                <a:cs typeface="Times New Roman" panose="02020603050405020304" pitchFamily="18" charset="0"/>
              </a:rPr>
              <a:t> </a:t>
            </a:r>
            <a:endParaRPr lang="en-IN" sz="1800" dirty="0">
              <a:effectLst/>
              <a:latin typeface="Nimbus Roman No9 L"/>
              <a:ea typeface="Bitstream Vera Sans"/>
              <a:cs typeface="Times New Roman" panose="02020603050405020304" pitchFamily="18" charset="0"/>
            </a:endParaRPr>
          </a:p>
          <a:p>
            <a:pPr algn="l"/>
            <a:r>
              <a:rPr lang="en-US" sz="1800" dirty="0">
                <a:effectLst/>
                <a:latin typeface="Times New Roman" panose="02020603050405020304" pitchFamily="18" charset="0"/>
                <a:ea typeface="Bitstream Vera Sans"/>
                <a:cs typeface="Times New Roman" panose="02020603050405020304" pitchFamily="18" charset="0"/>
              </a:rPr>
              <a:t> </a:t>
            </a:r>
            <a:endParaRPr lang="en-IN" sz="1800" dirty="0">
              <a:effectLst/>
              <a:latin typeface="Nimbus Roman No9 L"/>
              <a:ea typeface="Bitstream Vera Sans"/>
              <a:cs typeface="Times New Roman" panose="02020603050405020304" pitchFamily="18" charset="0"/>
            </a:endParaRPr>
          </a:p>
          <a:p>
            <a:pPr algn="l"/>
            <a:r>
              <a:rPr lang="en-US" sz="1800" b="1" dirty="0">
                <a:effectLst/>
                <a:latin typeface="Times New Roman" panose="02020603050405020304" pitchFamily="18" charset="0"/>
                <a:ea typeface="Bitstream Vera Sans"/>
                <a:cs typeface="Times New Roman" panose="02020603050405020304" pitchFamily="18" charset="0"/>
              </a:rPr>
              <a:t>WEB REFERENCES :</a:t>
            </a:r>
            <a:endParaRPr lang="en-IN" sz="1800" dirty="0">
              <a:effectLst/>
              <a:latin typeface="Nimbus Roman No9 L"/>
              <a:ea typeface="Bitstream Vera Sans"/>
              <a:cs typeface="Times New Roman" panose="02020603050405020304" pitchFamily="18" charset="0"/>
            </a:endParaRPr>
          </a:p>
          <a:p>
            <a:pPr algn="ctr"/>
            <a:r>
              <a:rPr lang="en-US" sz="1800" b="1" dirty="0">
                <a:effectLst/>
                <a:latin typeface="Times New Roman" panose="02020603050405020304" pitchFamily="18" charset="0"/>
                <a:ea typeface="Bitstream Vera Sans"/>
                <a:cs typeface="Times New Roman" panose="02020603050405020304" pitchFamily="18" charset="0"/>
              </a:rPr>
              <a:t> </a:t>
            </a:r>
            <a:endParaRPr lang="en-IN" sz="1800" dirty="0">
              <a:effectLst/>
              <a:latin typeface="Nimbus Roman No9 L"/>
              <a:ea typeface="Bitstream Vera Sans"/>
              <a:cs typeface="Times New Roman" panose="02020603050405020304" pitchFamily="18" charset="0"/>
            </a:endParaRPr>
          </a:p>
          <a:p>
            <a:pPr algn="ctr"/>
            <a:r>
              <a:rPr lang="en-US" sz="1800" b="1" dirty="0">
                <a:effectLst/>
                <a:latin typeface="Times New Roman" panose="02020603050405020304" pitchFamily="18" charset="0"/>
                <a:ea typeface="Bitstream Vera Sans"/>
                <a:cs typeface="Times New Roman" panose="02020603050405020304" pitchFamily="18" charset="0"/>
              </a:rPr>
              <a:t> </a:t>
            </a:r>
            <a:endParaRPr lang="en-IN" sz="1800" dirty="0">
              <a:effectLst/>
              <a:latin typeface="Nimbus Roman No9 L"/>
              <a:ea typeface="Bitstream Vera Sans"/>
              <a:cs typeface="Times New Roman" panose="02020603050405020304" pitchFamily="18" charset="0"/>
            </a:endParaRPr>
          </a:p>
          <a:p>
            <a:pPr marL="342900" lvl="0" indent="-342900" algn="just">
              <a:buFont typeface="Wingdings" panose="05000000000000000000" pitchFamily="2" charset="2"/>
              <a:buChar char=""/>
            </a:pPr>
            <a:r>
              <a:rPr lang="en-US" sz="1800" b="1" u="sng" dirty="0">
                <a:solidFill>
                  <a:srgbClr val="0563C1"/>
                </a:solidFill>
                <a:effectLst/>
                <a:latin typeface="Times New Roman" panose="02020603050405020304" pitchFamily="18" charset="0"/>
                <a:ea typeface="Bitstream Vera Sans"/>
                <a:cs typeface="Times New Roman" panose="02020603050405020304" pitchFamily="18" charset="0"/>
                <a:hlinkClick r:id="rId2"/>
              </a:rPr>
              <a:t>https://www.w3schools.com/python/index.php</a:t>
            </a:r>
            <a:endParaRPr lang="en-IN" sz="1800" dirty="0">
              <a:effectLst/>
              <a:latin typeface="Nimbus Roman No9 L"/>
              <a:ea typeface="Bitstream Vera Sans"/>
              <a:cs typeface="Times New Roman" panose="02020603050405020304" pitchFamily="18" charset="0"/>
            </a:endParaRPr>
          </a:p>
          <a:p>
            <a:pPr marL="457200" algn="just"/>
            <a:r>
              <a:rPr lang="en-US" sz="1800" b="1" dirty="0">
                <a:effectLst/>
                <a:latin typeface="Times New Roman" panose="02020603050405020304" pitchFamily="18" charset="0"/>
                <a:ea typeface="Bitstream Vera Sans"/>
                <a:cs typeface="Times New Roman" panose="02020603050405020304" pitchFamily="18" charset="0"/>
              </a:rPr>
              <a:t> </a:t>
            </a:r>
            <a:endParaRPr lang="en-IN" sz="1800" dirty="0">
              <a:effectLst/>
              <a:latin typeface="Nimbus Roman No9 L"/>
              <a:ea typeface="Bitstream Vera Sans"/>
              <a:cs typeface="Times New Roman" panose="02020603050405020304" pitchFamily="18" charset="0"/>
            </a:endParaRPr>
          </a:p>
          <a:p>
            <a:pPr marL="342900" lvl="0" indent="-342900" algn="just">
              <a:buFont typeface="Wingdings" panose="05000000000000000000" pitchFamily="2" charset="2"/>
              <a:buChar char=""/>
            </a:pPr>
            <a:r>
              <a:rPr lang="en-US" sz="1800" b="1" u="sng" dirty="0">
                <a:solidFill>
                  <a:srgbClr val="0563C1"/>
                </a:solidFill>
                <a:effectLst/>
                <a:latin typeface="Times New Roman" panose="02020603050405020304" pitchFamily="18" charset="0"/>
                <a:ea typeface="Bitstream Vera Sans"/>
                <a:cs typeface="Times New Roman" panose="02020603050405020304" pitchFamily="18" charset="0"/>
                <a:hlinkClick r:id="rId3"/>
              </a:rPr>
              <a:t>https://www.tutorialspoint.com/pythonprogramming/index.htm</a:t>
            </a:r>
            <a:endParaRPr lang="en-IN" sz="1800" dirty="0">
              <a:effectLst/>
              <a:latin typeface="Nimbus Roman No9 L"/>
              <a:ea typeface="Bitstream Vera Sans"/>
              <a:cs typeface="Times New Roman" panose="02020603050405020304" pitchFamily="18" charset="0"/>
            </a:endParaRPr>
          </a:p>
        </p:txBody>
      </p:sp>
    </p:spTree>
    <p:extLst>
      <p:ext uri="{BB962C8B-B14F-4D97-AF65-F5344CB8AC3E}">
        <p14:creationId xmlns:p14="http://schemas.microsoft.com/office/powerpoint/2010/main" val="57769825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54</TotalTime>
  <Words>1414</Words>
  <Application>Microsoft Office PowerPoint</Application>
  <PresentationFormat>Widescreen</PresentationFormat>
  <Paragraphs>155</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Flowcharts :</vt:lpstr>
      <vt:lpstr>UML Diagrams:</vt:lpstr>
      <vt:lpstr>UML Diagrams:</vt:lpstr>
      <vt:lpstr>UML Diagrams:</vt:lpstr>
      <vt:lpstr>UML Diagrams:</vt:lpstr>
      <vt:lpstr>Database Design:</vt:lpstr>
      <vt:lpstr>Database Design:</vt:lpstr>
      <vt:lpstr>Database Design:</vt:lpstr>
      <vt:lpstr>Database Design:</vt:lpstr>
      <vt:lpstr>Conclusion:</vt:lpstr>
      <vt:lpstr>Learning During Project Work :</vt:lpstr>
      <vt:lpstr>Bibliography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Atkotiya Bhavy (92300527183)</dc:creator>
  <cp:lastModifiedBy>Atkotiya Bhavy (92300527183)</cp:lastModifiedBy>
  <cp:revision>9</cp:revision>
  <dcterms:created xsi:type="dcterms:W3CDTF">2024-11-16T11:45:28Z</dcterms:created>
  <dcterms:modified xsi:type="dcterms:W3CDTF">2025-08-19T12:24:59Z</dcterms:modified>
</cp:coreProperties>
</file>